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MiSans" panose="00000500000000000000" pitchFamily="34" charset="-122"/>
      <p:regular r:id="rId19"/>
    </p:embeddedFont>
    <p:embeddedFont>
      <p:font typeface="MiSans" panose="00000500000000000000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rocesson.io/c9c0000ae17d529b373d8d41c51d77ea6f5d48fc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5289" r="528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4580830" y="1320800"/>
            <a:ext cx="3025775" cy="425450"/>
          </a:xfrm>
          <a:custGeom>
            <a:avLst/>
            <a:gdLst/>
            <a:ahLst/>
            <a:cxnLst/>
            <a:rect l="l" t="t" r="r" b="b"/>
            <a:pathLst>
              <a:path w="3025775" h="425450">
                <a:moveTo>
                  <a:pt x="212725" y="0"/>
                </a:moveTo>
                <a:lnTo>
                  <a:pt x="2813050" y="0"/>
                </a:lnTo>
                <a:cubicBezTo>
                  <a:pt x="2930535" y="0"/>
                  <a:pt x="3025775" y="95240"/>
                  <a:pt x="3025775" y="212725"/>
                </a:cubicBezTo>
                <a:lnTo>
                  <a:pt x="3025775" y="212725"/>
                </a:lnTo>
                <a:cubicBezTo>
                  <a:pt x="3025775" y="330210"/>
                  <a:pt x="2930535" y="425450"/>
                  <a:pt x="2813050" y="425450"/>
                </a:cubicBezTo>
                <a:lnTo>
                  <a:pt x="212725" y="425450"/>
                </a:lnTo>
                <a:cubicBezTo>
                  <a:pt x="95319" y="425450"/>
                  <a:pt x="0" y="330131"/>
                  <a:pt x="0" y="212725"/>
                </a:cubicBezTo>
                <a:lnTo>
                  <a:pt x="0" y="212725"/>
                </a:lnTo>
                <a:cubicBezTo>
                  <a:pt x="0" y="95319"/>
                  <a:pt x="95319" y="0"/>
                  <a:pt x="212725" y="0"/>
                </a:cubicBezTo>
                <a:close/>
              </a:path>
            </a:pathLst>
          </a:custGeom>
          <a:solidFill>
            <a:srgbClr val="5E81AC">
              <a:alpha val="20000"/>
            </a:srgbClr>
          </a:solidFill>
          <a:ln w="8467">
            <a:solidFill>
              <a:srgbClr val="5E81A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69743" y="1400175"/>
            <a:ext cx="26479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333333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开源治理 · 智能分析 · 决策支持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1577" y="1978025"/>
            <a:ext cx="66484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面向开源项目治理的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智能分析与决策辅助系统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301" y="36353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7" name="Text 4"/>
          <p:cNvSpPr/>
          <p:nvPr/>
        </p:nvSpPr>
        <p:spPr>
          <a:xfrm>
            <a:off x="2857302" y="3978275"/>
            <a:ext cx="6477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ECEFF4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OpenDigger 数据分析 + MaxKB 知识库问答 + 微服务治理架构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3280" y="532130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9" name="Text 6"/>
          <p:cNvSpPr/>
          <p:nvPr/>
        </p:nvSpPr>
        <p:spPr>
          <a:xfrm>
            <a:off x="4578548" y="52736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团队名称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35823" y="5321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1" name="Text 8"/>
          <p:cNvSpPr/>
          <p:nvPr/>
        </p:nvSpPr>
        <p:spPr>
          <a:xfrm>
            <a:off x="5859661" y="5273675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赛道名称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27652" y="53213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13" name="Text 10"/>
          <p:cNvSpPr/>
          <p:nvPr/>
        </p:nvSpPr>
        <p:spPr>
          <a:xfrm>
            <a:off x="7140773" y="5273675"/>
            <a:ext cx="762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2025-12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背景与痛点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" name="Shape 2"/>
          <p:cNvSpPr/>
          <p:nvPr/>
        </p:nvSpPr>
        <p:spPr>
          <a:xfrm>
            <a:off x="400050" y="1219200"/>
            <a:ext cx="5581650" cy="1447800"/>
          </a:xfrm>
          <a:custGeom>
            <a:avLst/>
            <a:gdLst/>
            <a:ahLst/>
            <a:cxnLst/>
            <a:rect l="l" t="t" r="r" b="b"/>
            <a:pathLst>
              <a:path w="5581650" h="14478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1371602"/>
                </a:lnTo>
                <a:cubicBezTo>
                  <a:pt x="5581650" y="1413657"/>
                  <a:pt x="5547507" y="1447800"/>
                  <a:pt x="550545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" name="Shape 5"/>
          <p:cNvSpPr/>
          <p:nvPr/>
        </p:nvSpPr>
        <p:spPr>
          <a:xfrm>
            <a:off x="7429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81100" y="140970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规模增长与治理复杂度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5257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开源项目规模快速增长，但治理问题愈发复杂：</a:t>
            </a: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单点维护者风险、决策过程不透明、贡献者失衡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等成为制约社区健康发展的核心瓶颈。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819400"/>
            <a:ext cx="5581650" cy="1447800"/>
          </a:xfrm>
          <a:custGeom>
            <a:avLst/>
            <a:gdLst/>
            <a:ahLst/>
            <a:cxnLst/>
            <a:rect l="l" t="t" r="r" b="b"/>
            <a:pathLst>
              <a:path w="5581650" h="14478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1371602"/>
                </a:lnTo>
                <a:cubicBezTo>
                  <a:pt x="5581650" y="1413657"/>
                  <a:pt x="5547507" y="1447800"/>
                  <a:pt x="550545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1" name="Shape 9"/>
          <p:cNvSpPr/>
          <p:nvPr/>
        </p:nvSpPr>
        <p:spPr>
          <a:xfrm>
            <a:off x="400050" y="28194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2" name="Shape 10"/>
          <p:cNvSpPr/>
          <p:nvPr/>
        </p:nvSpPr>
        <p:spPr>
          <a:xfrm>
            <a:off x="609600" y="3009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3" name="Shape 11"/>
          <p:cNvSpPr/>
          <p:nvPr/>
        </p:nvSpPr>
        <p:spPr>
          <a:xfrm>
            <a:off x="754856" y="3143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1181100" y="300990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数据分散与人工成本高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81400"/>
            <a:ext cx="5257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数据分散在 </a:t>
            </a: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GitHub/Gitee/Issue/PR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等多个平台，人工收集和分析需要耗费大量时间精力，且难以形成全局视角。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419600"/>
            <a:ext cx="5581650" cy="1447800"/>
          </a:xfrm>
          <a:custGeom>
            <a:avLst/>
            <a:gdLst/>
            <a:ahLst/>
            <a:cxnLst/>
            <a:rect l="l" t="t" r="r" b="b"/>
            <a:pathLst>
              <a:path w="5581650" h="1447800">
                <a:moveTo>
                  <a:pt x="38100" y="0"/>
                </a:moveTo>
                <a:lnTo>
                  <a:pt x="5505452" y="0"/>
                </a:lnTo>
                <a:cubicBezTo>
                  <a:pt x="5547507" y="0"/>
                  <a:pt x="5581650" y="34143"/>
                  <a:pt x="5581650" y="76198"/>
                </a:cubicBezTo>
                <a:lnTo>
                  <a:pt x="5581650" y="1371602"/>
                </a:lnTo>
                <a:cubicBezTo>
                  <a:pt x="5581650" y="1413657"/>
                  <a:pt x="5547507" y="1447800"/>
                  <a:pt x="5505452" y="1447800"/>
                </a:cubicBez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7" name="Shape 15"/>
          <p:cNvSpPr/>
          <p:nvPr/>
        </p:nvSpPr>
        <p:spPr>
          <a:xfrm>
            <a:off x="400050" y="441960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3810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38100" y="1447800"/>
                </a:lnTo>
                <a:cubicBezTo>
                  <a:pt x="17072" y="1447800"/>
                  <a:pt x="0" y="1430728"/>
                  <a:pt x="0" y="1409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8" name="Shape 16"/>
          <p:cNvSpPr/>
          <p:nvPr/>
        </p:nvSpPr>
        <p:spPr>
          <a:xfrm>
            <a:off x="609600" y="4610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9" name="Shape 17"/>
          <p:cNvSpPr/>
          <p:nvPr/>
        </p:nvSpPr>
        <p:spPr>
          <a:xfrm>
            <a:off x="766763" y="4743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1181100" y="4610100"/>
            <a:ext cx="2190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从数据到治理洞察的鸿沟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5181600"/>
            <a:ext cx="5257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平台只能看到</a:t>
            </a: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原始数据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，无法直接识别</a:t>
            </a: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治理结构与风险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。需要将数据上升为可解释的治理结论。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219200"/>
            <a:ext cx="5600700" cy="2590800"/>
          </a:xfrm>
          <a:custGeom>
            <a:avLst/>
            <a:gdLst/>
            <a:ahLst/>
            <a:cxnLst/>
            <a:rect l="l" t="t" r="r" b="b"/>
            <a:pathLst>
              <a:path w="5600700" h="2590800">
                <a:moveTo>
                  <a:pt x="76195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2514605"/>
                </a:lnTo>
                <a:cubicBezTo>
                  <a:pt x="5600700" y="2556686"/>
                  <a:pt x="5566586" y="2590800"/>
                  <a:pt x="552450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23" name="Text 21"/>
          <p:cNvSpPr/>
          <p:nvPr/>
        </p:nvSpPr>
        <p:spPr>
          <a:xfrm>
            <a:off x="6438900" y="1447800"/>
            <a:ext cx="5257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89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25" name="Text 23"/>
          <p:cNvSpPr/>
          <p:nvPr/>
        </p:nvSpPr>
        <p:spPr>
          <a:xfrm>
            <a:off x="6405563" y="19050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905000"/>
            <a:ext cx="2076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治理风险难识别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171700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缺乏量化指标体系，难以提前预警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890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29" name="Text 27"/>
          <p:cNvSpPr/>
          <p:nvPr/>
        </p:nvSpPr>
        <p:spPr>
          <a:xfrm>
            <a:off x="6405563" y="25146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2514600"/>
            <a:ext cx="167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决策依据不充分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2781300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缺少知识沉淀与证据链追溯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8900" y="312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33" name="Text 31"/>
          <p:cNvSpPr/>
          <p:nvPr/>
        </p:nvSpPr>
        <p:spPr>
          <a:xfrm>
            <a:off x="6405563" y="31242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3124200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治理经验难传承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390900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依赖个人经验，难以标准化复制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10300" y="3962400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7" name="Shape 35"/>
          <p:cNvSpPr/>
          <p:nvPr/>
        </p:nvSpPr>
        <p:spPr>
          <a:xfrm>
            <a:off x="6436519" y="4638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8" name="Text 36"/>
          <p:cNvSpPr/>
          <p:nvPr/>
        </p:nvSpPr>
        <p:spPr>
          <a:xfrm>
            <a:off x="6715125" y="4600575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我们的愿景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4981575"/>
            <a:ext cx="5295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打通</a:t>
            </a:r>
            <a:r>
              <a:rPr lang="en-US" sz="12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"看数、看文档、做决策"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的完整链路，让治理决策有据可依、有迹可循。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目标与价值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" name="Shape 2"/>
          <p:cNvSpPr/>
          <p:nvPr/>
        </p:nvSpPr>
        <p:spPr>
          <a:xfrm>
            <a:off x="381000" y="1219200"/>
            <a:ext cx="11430000" cy="1381125"/>
          </a:xfrm>
          <a:custGeom>
            <a:avLst/>
            <a:gdLst/>
            <a:ahLst/>
            <a:cxnLst/>
            <a:rect l="l" t="t" r="r" b="b"/>
            <a:pathLst>
              <a:path w="11430000" h="1381125">
                <a:moveTo>
                  <a:pt x="76197" y="0"/>
                </a:moveTo>
                <a:lnTo>
                  <a:pt x="11353803" y="0"/>
                </a:lnTo>
                <a:cubicBezTo>
                  <a:pt x="11395886" y="0"/>
                  <a:pt x="11430000" y="34114"/>
                  <a:pt x="11430000" y="76197"/>
                </a:cubicBezTo>
                <a:lnTo>
                  <a:pt x="11430000" y="1304928"/>
                </a:lnTo>
                <a:cubicBezTo>
                  <a:pt x="11430000" y="1347011"/>
                  <a:pt x="11395886" y="1381125"/>
                  <a:pt x="11353803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5" name="Shape 3"/>
          <p:cNvSpPr/>
          <p:nvPr/>
        </p:nvSpPr>
        <p:spPr>
          <a:xfrm>
            <a:off x="60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6" name="Shape 4"/>
          <p:cNvSpPr/>
          <p:nvPr/>
        </p:nvSpPr>
        <p:spPr>
          <a:xfrm>
            <a:off x="72390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181100" y="15240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057400"/>
            <a:ext cx="110680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提供</a:t>
            </a:r>
            <a:r>
              <a:rPr lang="en-US" sz="15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"指标分析 + 结构识别 + 知识证据 + AI 建议"</a:t>
            </a:r>
            <a:r>
              <a:rPr lang="en-US" sz="1500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的完整闭环，不仅回答"现在怎么样"，更回答"为什么这样、下一步怎么改"。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824163"/>
            <a:ext cx="3686175" cy="2705100"/>
          </a:xfrm>
          <a:custGeom>
            <a:avLst/>
            <a:gdLst/>
            <a:ahLst/>
            <a:cxnLst/>
            <a:rect l="l" t="t" r="r" b="b"/>
            <a:pathLst>
              <a:path w="3686175" h="2705100">
                <a:moveTo>
                  <a:pt x="76203" y="0"/>
                </a:moveTo>
                <a:lnTo>
                  <a:pt x="3609972" y="0"/>
                </a:lnTo>
                <a:cubicBezTo>
                  <a:pt x="3652058" y="0"/>
                  <a:pt x="3686175" y="34117"/>
                  <a:pt x="3686175" y="76203"/>
                </a:cubicBezTo>
                <a:lnTo>
                  <a:pt x="3686175" y="2628897"/>
                </a:lnTo>
                <a:cubicBezTo>
                  <a:pt x="3686175" y="2670983"/>
                  <a:pt x="3652058" y="2705100"/>
                  <a:pt x="3609972" y="2705100"/>
                </a:cubicBezTo>
                <a:lnTo>
                  <a:pt x="76203" y="2705100"/>
                </a:lnTo>
                <a:cubicBezTo>
                  <a:pt x="34117" y="2705100"/>
                  <a:pt x="0" y="2670983"/>
                  <a:pt x="0" y="2628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0" name="Shape 8"/>
          <p:cNvSpPr/>
          <p:nvPr/>
        </p:nvSpPr>
        <p:spPr>
          <a:xfrm>
            <a:off x="571500" y="305276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Text 9"/>
          <p:cNvSpPr/>
          <p:nvPr/>
        </p:nvSpPr>
        <p:spPr>
          <a:xfrm>
            <a:off x="809625" y="3014663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4337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3" name="Text 11"/>
          <p:cNvSpPr/>
          <p:nvPr/>
        </p:nvSpPr>
        <p:spPr>
          <a:xfrm>
            <a:off x="538163" y="34337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3471863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Maintainer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- 项目维护者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38528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6" name="Text 14"/>
          <p:cNvSpPr/>
          <p:nvPr/>
        </p:nvSpPr>
        <p:spPr>
          <a:xfrm>
            <a:off x="538163" y="38528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500" y="3890962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社区运营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- 运营人员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2719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9" name="Text 17"/>
          <p:cNvSpPr/>
          <p:nvPr/>
        </p:nvSpPr>
        <p:spPr>
          <a:xfrm>
            <a:off x="538163" y="42719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4310063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基金会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- 治理人员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46910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2" name="Text 20"/>
          <p:cNvSpPr/>
          <p:nvPr/>
        </p:nvSpPr>
        <p:spPr>
          <a:xfrm>
            <a:off x="538163" y="4691063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4729163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评审与研究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- 学者专家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4500" y="2824163"/>
            <a:ext cx="7553325" cy="2705100"/>
          </a:xfrm>
          <a:custGeom>
            <a:avLst/>
            <a:gdLst/>
            <a:ahLst/>
            <a:cxnLst/>
            <a:rect l="l" t="t" r="r" b="b"/>
            <a:pathLst>
              <a:path w="7553325" h="2705100">
                <a:moveTo>
                  <a:pt x="76203" y="0"/>
                </a:moveTo>
                <a:lnTo>
                  <a:pt x="7477122" y="0"/>
                </a:lnTo>
                <a:cubicBezTo>
                  <a:pt x="7519208" y="0"/>
                  <a:pt x="7553325" y="34117"/>
                  <a:pt x="7553325" y="76203"/>
                </a:cubicBezTo>
                <a:lnTo>
                  <a:pt x="7553325" y="2628897"/>
                </a:lnTo>
                <a:cubicBezTo>
                  <a:pt x="7553325" y="2670983"/>
                  <a:pt x="7519208" y="2705100"/>
                  <a:pt x="7477122" y="2705100"/>
                </a:cubicBezTo>
                <a:lnTo>
                  <a:pt x="76203" y="2705100"/>
                </a:lnTo>
                <a:cubicBezTo>
                  <a:pt x="34117" y="2705100"/>
                  <a:pt x="0" y="2670983"/>
                  <a:pt x="0" y="2628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25" name="Shape 23"/>
          <p:cNvSpPr/>
          <p:nvPr/>
        </p:nvSpPr>
        <p:spPr>
          <a:xfrm>
            <a:off x="4456906" y="305276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26" name="Text 24"/>
          <p:cNvSpPr/>
          <p:nvPr/>
        </p:nvSpPr>
        <p:spPr>
          <a:xfrm>
            <a:off x="4683125" y="3014663"/>
            <a:ext cx="7029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64050" y="3433763"/>
            <a:ext cx="3495675" cy="876300"/>
          </a:xfrm>
          <a:custGeom>
            <a:avLst/>
            <a:gdLst/>
            <a:ahLst/>
            <a:cxnLst/>
            <a:rect l="l" t="t" r="r" b="b"/>
            <a:pathLst>
              <a:path w="3495675" h="876300">
                <a:moveTo>
                  <a:pt x="38100" y="0"/>
                </a:moveTo>
                <a:lnTo>
                  <a:pt x="3419472" y="0"/>
                </a:lnTo>
                <a:cubicBezTo>
                  <a:pt x="3461558" y="0"/>
                  <a:pt x="3495675" y="34117"/>
                  <a:pt x="3495675" y="76203"/>
                </a:cubicBezTo>
                <a:lnTo>
                  <a:pt x="3495675" y="800097"/>
                </a:lnTo>
                <a:cubicBezTo>
                  <a:pt x="3495675" y="842183"/>
                  <a:pt x="3461558" y="876300"/>
                  <a:pt x="34194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Shape 26"/>
          <p:cNvSpPr/>
          <p:nvPr/>
        </p:nvSpPr>
        <p:spPr>
          <a:xfrm>
            <a:off x="4464050" y="343376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9" name="Text 27"/>
          <p:cNvSpPr/>
          <p:nvPr/>
        </p:nvSpPr>
        <p:spPr>
          <a:xfrm>
            <a:off x="4635500" y="3586163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降低治理成本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35500" y="3929063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自动化分析与建议生成，减少人工投入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8000" y="3433763"/>
            <a:ext cx="3495675" cy="876300"/>
          </a:xfrm>
          <a:custGeom>
            <a:avLst/>
            <a:gdLst/>
            <a:ahLst/>
            <a:cxnLst/>
            <a:rect l="l" t="t" r="r" b="b"/>
            <a:pathLst>
              <a:path w="3495675" h="876300">
                <a:moveTo>
                  <a:pt x="38100" y="0"/>
                </a:moveTo>
                <a:lnTo>
                  <a:pt x="3419472" y="0"/>
                </a:lnTo>
                <a:cubicBezTo>
                  <a:pt x="3461558" y="0"/>
                  <a:pt x="3495675" y="34117"/>
                  <a:pt x="3495675" y="76203"/>
                </a:cubicBezTo>
                <a:lnTo>
                  <a:pt x="3495675" y="800097"/>
                </a:lnTo>
                <a:cubicBezTo>
                  <a:pt x="3495675" y="842183"/>
                  <a:pt x="3461558" y="876300"/>
                  <a:pt x="34194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8128000" y="343376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3" name="Text 31"/>
          <p:cNvSpPr/>
          <p:nvPr/>
        </p:nvSpPr>
        <p:spPr>
          <a:xfrm>
            <a:off x="8299450" y="3586163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提升透明度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9450" y="3929063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量化指标与可追溯证据，决策公开透明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64050" y="4462463"/>
            <a:ext cx="3495675" cy="876300"/>
          </a:xfrm>
          <a:custGeom>
            <a:avLst/>
            <a:gdLst/>
            <a:ahLst/>
            <a:cxnLst/>
            <a:rect l="l" t="t" r="r" b="b"/>
            <a:pathLst>
              <a:path w="3495675" h="876300">
                <a:moveTo>
                  <a:pt x="38100" y="0"/>
                </a:moveTo>
                <a:lnTo>
                  <a:pt x="3419472" y="0"/>
                </a:lnTo>
                <a:cubicBezTo>
                  <a:pt x="3461558" y="0"/>
                  <a:pt x="3495675" y="34117"/>
                  <a:pt x="3495675" y="76203"/>
                </a:cubicBezTo>
                <a:lnTo>
                  <a:pt x="3495675" y="800097"/>
                </a:lnTo>
                <a:cubicBezTo>
                  <a:pt x="3495675" y="842183"/>
                  <a:pt x="3461558" y="876300"/>
                  <a:pt x="34194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Shape 34"/>
          <p:cNvSpPr/>
          <p:nvPr/>
        </p:nvSpPr>
        <p:spPr>
          <a:xfrm>
            <a:off x="4464050" y="446246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7" name="Text 35"/>
          <p:cNvSpPr/>
          <p:nvPr/>
        </p:nvSpPr>
        <p:spPr>
          <a:xfrm>
            <a:off x="4635500" y="4614863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提前预警风险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35500" y="4957763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实时监控与异常检测，防患于未然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28000" y="4462463"/>
            <a:ext cx="3495675" cy="876300"/>
          </a:xfrm>
          <a:custGeom>
            <a:avLst/>
            <a:gdLst/>
            <a:ahLst/>
            <a:cxnLst/>
            <a:rect l="l" t="t" r="r" b="b"/>
            <a:pathLst>
              <a:path w="3495675" h="876300">
                <a:moveTo>
                  <a:pt x="38100" y="0"/>
                </a:moveTo>
                <a:lnTo>
                  <a:pt x="3419472" y="0"/>
                </a:lnTo>
                <a:cubicBezTo>
                  <a:pt x="3461558" y="0"/>
                  <a:pt x="3495675" y="34117"/>
                  <a:pt x="3495675" y="76203"/>
                </a:cubicBezTo>
                <a:lnTo>
                  <a:pt x="3495675" y="800097"/>
                </a:lnTo>
                <a:cubicBezTo>
                  <a:pt x="3495675" y="842183"/>
                  <a:pt x="3461558" y="876300"/>
                  <a:pt x="34194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Shape 38"/>
          <p:cNvSpPr/>
          <p:nvPr/>
        </p:nvSpPr>
        <p:spPr>
          <a:xfrm>
            <a:off x="8128000" y="446246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1" name="Text 39"/>
          <p:cNvSpPr/>
          <p:nvPr/>
        </p:nvSpPr>
        <p:spPr>
          <a:xfrm>
            <a:off x="8299450" y="4614863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沉淀治理知识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99450" y="4957763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知识库积累与复用，传承治理经验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系统总体架构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" name="Shape 2"/>
          <p:cNvSpPr/>
          <p:nvPr/>
        </p:nvSpPr>
        <p:spPr>
          <a:xfrm>
            <a:off x="381000" y="1028700"/>
            <a:ext cx="2228850" cy="914400"/>
          </a:xfrm>
          <a:custGeom>
            <a:avLst/>
            <a:gdLst/>
            <a:ahLst/>
            <a:cxnLst/>
            <a:rect l="l" t="t" r="r" b="b"/>
            <a:pathLst>
              <a:path w="2228850" h="914400">
                <a:moveTo>
                  <a:pt x="76197" y="0"/>
                </a:moveTo>
                <a:lnTo>
                  <a:pt x="2152653" y="0"/>
                </a:lnTo>
                <a:cubicBezTo>
                  <a:pt x="2194735" y="0"/>
                  <a:pt x="2228850" y="34115"/>
                  <a:pt x="2228850" y="76197"/>
                </a:cubicBezTo>
                <a:lnTo>
                  <a:pt x="2228850" y="838203"/>
                </a:lnTo>
                <a:cubicBezTo>
                  <a:pt x="2228850" y="880285"/>
                  <a:pt x="2194735" y="914400"/>
                  <a:pt x="21526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1410097" y="11366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23812"/>
                </a:moveTo>
                <a:lnTo>
                  <a:pt x="130969" y="23812"/>
                </a:lnTo>
                <a:lnTo>
                  <a:pt x="130969" y="178594"/>
                </a:lnTo>
                <a:cubicBezTo>
                  <a:pt x="130969" y="185179"/>
                  <a:pt x="136289" y="190500"/>
                  <a:pt x="142875" y="190500"/>
                </a:cubicBezTo>
                <a:lnTo>
                  <a:pt x="154781" y="190500"/>
                </a:lnTo>
                <a:cubicBezTo>
                  <a:pt x="161367" y="190500"/>
                  <a:pt x="166688" y="185179"/>
                  <a:pt x="166688" y="178594"/>
                </a:cubicBezTo>
                <a:cubicBezTo>
                  <a:pt x="166688" y="172008"/>
                  <a:pt x="161367" y="166688"/>
                  <a:pt x="154781" y="166688"/>
                </a:cubicBezTo>
                <a:lnTo>
                  <a:pt x="154781" y="23812"/>
                </a:lnTo>
                <a:cubicBezTo>
                  <a:pt x="154781" y="10678"/>
                  <a:pt x="144103" y="0"/>
                  <a:pt x="130969" y="0"/>
                </a:cubicBezTo>
                <a:lnTo>
                  <a:pt x="95250" y="0"/>
                </a:lnTo>
                <a:lnTo>
                  <a:pt x="95250" y="0"/>
                </a:lnTo>
                <a:lnTo>
                  <a:pt x="35719" y="0"/>
                </a:ln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95250" y="190500"/>
                </a:lnTo>
                <a:cubicBezTo>
                  <a:pt x="101836" y="190500"/>
                  <a:pt x="107156" y="185179"/>
                  <a:pt x="107156" y="178594"/>
                </a:cubicBezTo>
                <a:lnTo>
                  <a:pt x="107156" y="23812"/>
                </a:lnTo>
                <a:close/>
                <a:moveTo>
                  <a:pt x="59531" y="95250"/>
                </a:moveTo>
                <a:cubicBezTo>
                  <a:pt x="59531" y="88679"/>
                  <a:pt x="64866" y="83344"/>
                  <a:pt x="71438" y="83344"/>
                </a:cubicBezTo>
                <a:cubicBezTo>
                  <a:pt x="78009" y="83344"/>
                  <a:pt x="83344" y="88679"/>
                  <a:pt x="83344" y="95250"/>
                </a:cubicBezTo>
                <a:cubicBezTo>
                  <a:pt x="83344" y="101821"/>
                  <a:pt x="78009" y="107156"/>
                  <a:pt x="71438" y="107156"/>
                </a:cubicBezTo>
                <a:cubicBezTo>
                  <a:pt x="64866" y="107156"/>
                  <a:pt x="59531" y="101821"/>
                  <a:pt x="59531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419100" y="1409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入口层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3863" y="1676400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Web → Nginx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82180" y="1028700"/>
            <a:ext cx="2228850" cy="914400"/>
          </a:xfrm>
          <a:custGeom>
            <a:avLst/>
            <a:gdLst/>
            <a:ahLst/>
            <a:cxnLst/>
            <a:rect l="l" t="t" r="r" b="b"/>
            <a:pathLst>
              <a:path w="2228850" h="914400">
                <a:moveTo>
                  <a:pt x="76197" y="0"/>
                </a:moveTo>
                <a:lnTo>
                  <a:pt x="2152653" y="0"/>
                </a:lnTo>
                <a:cubicBezTo>
                  <a:pt x="2194735" y="0"/>
                  <a:pt x="2228850" y="34115"/>
                  <a:pt x="2228850" y="76197"/>
                </a:cubicBezTo>
                <a:lnTo>
                  <a:pt x="2228850" y="838203"/>
                </a:lnTo>
                <a:cubicBezTo>
                  <a:pt x="2228850" y="880285"/>
                  <a:pt x="2194735" y="914400"/>
                  <a:pt x="21526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9" name="Shape 7"/>
          <p:cNvSpPr/>
          <p:nvPr/>
        </p:nvSpPr>
        <p:spPr>
          <a:xfrm>
            <a:off x="3711377" y="11366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2720280" y="1409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服务层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25043" y="1676400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服务集群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60" y="1028700"/>
            <a:ext cx="2228850" cy="914400"/>
          </a:xfrm>
          <a:custGeom>
            <a:avLst/>
            <a:gdLst/>
            <a:ahLst/>
            <a:cxnLst/>
            <a:rect l="l" t="t" r="r" b="b"/>
            <a:pathLst>
              <a:path w="2228850" h="914400">
                <a:moveTo>
                  <a:pt x="76197" y="0"/>
                </a:moveTo>
                <a:lnTo>
                  <a:pt x="2152653" y="0"/>
                </a:lnTo>
                <a:cubicBezTo>
                  <a:pt x="2194735" y="0"/>
                  <a:pt x="2228850" y="34115"/>
                  <a:pt x="2228850" y="76197"/>
                </a:cubicBezTo>
                <a:lnTo>
                  <a:pt x="2228850" y="838203"/>
                </a:lnTo>
                <a:cubicBezTo>
                  <a:pt x="2228850" y="880285"/>
                  <a:pt x="2194735" y="914400"/>
                  <a:pt x="21526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3" name="Shape 11"/>
          <p:cNvSpPr/>
          <p:nvPr/>
        </p:nvSpPr>
        <p:spPr>
          <a:xfrm>
            <a:off x="6000651" y="11366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021560" y="1409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观测与运维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6323" y="1676400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SkyWalking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84641" y="1028700"/>
            <a:ext cx="2228850" cy="914400"/>
          </a:xfrm>
          <a:custGeom>
            <a:avLst/>
            <a:gdLst/>
            <a:ahLst/>
            <a:cxnLst/>
            <a:rect l="l" t="t" r="r" b="b"/>
            <a:pathLst>
              <a:path w="2228850" h="914400">
                <a:moveTo>
                  <a:pt x="76197" y="0"/>
                </a:moveTo>
                <a:lnTo>
                  <a:pt x="2152653" y="0"/>
                </a:lnTo>
                <a:cubicBezTo>
                  <a:pt x="2194735" y="0"/>
                  <a:pt x="2228850" y="34115"/>
                  <a:pt x="2228850" y="76197"/>
                </a:cubicBezTo>
                <a:lnTo>
                  <a:pt x="2228850" y="838203"/>
                </a:lnTo>
                <a:cubicBezTo>
                  <a:pt x="2228850" y="880285"/>
                  <a:pt x="2194735" y="914400"/>
                  <a:pt x="21526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17" name="Shape 15"/>
          <p:cNvSpPr/>
          <p:nvPr/>
        </p:nvSpPr>
        <p:spPr>
          <a:xfrm>
            <a:off x="8301930" y="11366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7322741" y="1409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27503" y="1676400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XXL-JOB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5921" y="1028700"/>
            <a:ext cx="2228850" cy="914400"/>
          </a:xfrm>
          <a:custGeom>
            <a:avLst/>
            <a:gdLst/>
            <a:ahLst/>
            <a:cxnLst/>
            <a:rect l="l" t="t" r="r" b="b"/>
            <a:pathLst>
              <a:path w="2228850" h="914400">
                <a:moveTo>
                  <a:pt x="76197" y="0"/>
                </a:moveTo>
                <a:lnTo>
                  <a:pt x="2152653" y="0"/>
                </a:lnTo>
                <a:cubicBezTo>
                  <a:pt x="2194735" y="0"/>
                  <a:pt x="2228850" y="34115"/>
                  <a:pt x="2228850" y="76197"/>
                </a:cubicBezTo>
                <a:lnTo>
                  <a:pt x="2228850" y="838203"/>
                </a:lnTo>
                <a:cubicBezTo>
                  <a:pt x="2228850" y="880285"/>
                  <a:pt x="2194735" y="914400"/>
                  <a:pt x="21526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21" name="Shape 19"/>
          <p:cNvSpPr/>
          <p:nvPr/>
        </p:nvSpPr>
        <p:spPr>
          <a:xfrm>
            <a:off x="10603111" y="11366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9624021" y="1409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缓存与一致性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28783" y="1676400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Redis+Redisson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2057400"/>
            <a:ext cx="11430000" cy="3829050"/>
          </a:xfrm>
          <a:custGeom>
            <a:avLst/>
            <a:gdLst/>
            <a:ahLst/>
            <a:cxnLst/>
            <a:rect l="l" t="t" r="r" b="b"/>
            <a:pathLst>
              <a:path w="11430000" h="38290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3752852"/>
                </a:lnTo>
                <a:cubicBezTo>
                  <a:pt x="11430000" y="3794935"/>
                  <a:pt x="11395885" y="3829050"/>
                  <a:pt x="11353802" y="3829050"/>
                </a:cubicBezTo>
                <a:lnTo>
                  <a:pt x="76198" y="3829050"/>
                </a:lnTo>
                <a:cubicBezTo>
                  <a:pt x="34115" y="3829050"/>
                  <a:pt x="0" y="3794935"/>
                  <a:pt x="0" y="37528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25" name="Shape 23"/>
          <p:cNvSpPr/>
          <p:nvPr/>
        </p:nvSpPr>
        <p:spPr>
          <a:xfrm>
            <a:off x="542925" y="238125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E81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550" y="246697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5313" y="26955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dynamic-datasource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5313" y="28860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MySQL 主从 + PostgreSQL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925" y="358140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8C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0550" y="366712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存储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5313" y="389572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MinIO + 云 OSS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5313" y="408622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阿里/腾讯/七牛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2925" y="478155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B48E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550" y="486727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文档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5313" y="50958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SpringDoc/JavaDoc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5313" y="52863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接口与二次开发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89425" y="2219325"/>
            <a:ext cx="3609975" cy="3505200"/>
          </a:xfrm>
          <a:custGeom>
            <a:avLst/>
            <a:gdLst/>
            <a:ahLst/>
            <a:cxnLst/>
            <a:rect l="l" t="t" r="r" b="b"/>
            <a:pathLst>
              <a:path w="3609975" h="3505200">
                <a:moveTo>
                  <a:pt x="76203" y="0"/>
                </a:moveTo>
                <a:lnTo>
                  <a:pt x="3533772" y="0"/>
                </a:lnTo>
                <a:cubicBezTo>
                  <a:pt x="3575858" y="0"/>
                  <a:pt x="3609975" y="34117"/>
                  <a:pt x="3609975" y="76203"/>
                </a:cubicBezTo>
                <a:lnTo>
                  <a:pt x="3609975" y="3428997"/>
                </a:lnTo>
                <a:cubicBezTo>
                  <a:pt x="3609975" y="3471083"/>
                  <a:pt x="3575858" y="3505200"/>
                  <a:pt x="3533772" y="3505200"/>
                </a:cubicBezTo>
                <a:lnTo>
                  <a:pt x="76203" y="3505200"/>
                </a:lnTo>
                <a:cubicBezTo>
                  <a:pt x="34117" y="3505200"/>
                  <a:pt x="0" y="3471083"/>
                  <a:pt x="0" y="3428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5E81A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23431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9" name="Text 37"/>
          <p:cNvSpPr/>
          <p:nvPr/>
        </p:nvSpPr>
        <p:spPr>
          <a:xfrm>
            <a:off x="5681663" y="2343150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前端请求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5604" y="3390900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38101" y="0"/>
                </a:moveTo>
                <a:lnTo>
                  <a:pt x="904874" y="0"/>
                </a:lnTo>
                <a:cubicBezTo>
                  <a:pt x="925917" y="0"/>
                  <a:pt x="942975" y="17058"/>
                  <a:pt x="942975" y="38101"/>
                </a:cubicBezTo>
                <a:lnTo>
                  <a:pt x="942975" y="228599"/>
                </a:lnTo>
                <a:cubicBezTo>
                  <a:pt x="942975" y="249642"/>
                  <a:pt x="925917" y="266700"/>
                  <a:pt x="9048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41" name="Text 39"/>
          <p:cNvSpPr/>
          <p:nvPr/>
        </p:nvSpPr>
        <p:spPr>
          <a:xfrm>
            <a:off x="5592267" y="3390900"/>
            <a:ext cx="10096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Nginx 网关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15000" y="436245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38101" y="0"/>
                </a:moveTo>
                <a:lnTo>
                  <a:pt x="723899" y="0"/>
                </a:lnTo>
                <a:cubicBezTo>
                  <a:pt x="744942" y="0"/>
                  <a:pt x="762000" y="17058"/>
                  <a:pt x="762000" y="38101"/>
                </a:cubicBezTo>
                <a:lnTo>
                  <a:pt x="762000" y="228599"/>
                </a:lnTo>
                <a:cubicBezTo>
                  <a:pt x="762000" y="249628"/>
                  <a:pt x="744928" y="266700"/>
                  <a:pt x="7238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43" name="Text 41"/>
          <p:cNvSpPr/>
          <p:nvPr/>
        </p:nvSpPr>
        <p:spPr>
          <a:xfrm>
            <a:off x="5681663" y="4362450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服务集群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15000" y="53340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5" name="Text 43"/>
          <p:cNvSpPr/>
          <p:nvPr/>
        </p:nvSpPr>
        <p:spPr>
          <a:xfrm>
            <a:off x="5681663" y="5334000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业务处理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035925" y="238125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A3B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83550" y="246697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观测与运维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88313" y="26955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SkyWalking 链路追踪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88313" y="28860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SpringBoot-Admin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35925" y="358140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BCB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83550" y="366712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088313" y="389572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XXL-JOB 统一调度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88313" y="408622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指标同步与计算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35925" y="4781550"/>
            <a:ext cx="3609975" cy="781050"/>
          </a:xfrm>
          <a:custGeom>
            <a:avLst/>
            <a:gdLst/>
            <a:ahLst/>
            <a:cxnLst/>
            <a:rect l="l" t="t" r="r" b="b"/>
            <a:pathLst>
              <a:path w="3609975" h="78105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704851"/>
                </a:lnTo>
                <a:cubicBezTo>
                  <a:pt x="3609975" y="746934"/>
                  <a:pt x="3575859" y="781050"/>
                  <a:pt x="3533776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BF61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3550" y="4867275"/>
            <a:ext cx="3514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缓存与一致性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088313" y="50958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Redis + Redisson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088313" y="5286375"/>
            <a:ext cx="3505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Lock4j 分布式锁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1000" y="6000750"/>
            <a:ext cx="11430000" cy="476250"/>
          </a:xfrm>
          <a:custGeom>
            <a:avLst/>
            <a:gdLst/>
            <a:ahLst/>
            <a:cxnLst/>
            <a:rect l="l" t="t" r="r" b="b"/>
            <a:pathLst>
              <a:path w="11430000" h="47625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400050"/>
                </a:lnTo>
                <a:cubicBezTo>
                  <a:pt x="11430000" y="442106"/>
                  <a:pt x="11395856" y="476250"/>
                  <a:pt x="11353800" y="476250"/>
                </a:cubicBezTo>
                <a:lnTo>
                  <a:pt x="76200" y="476250"/>
                </a:lnTo>
                <a:cubicBezTo>
                  <a:pt x="34144" y="476250"/>
                  <a:pt x="0" y="442106"/>
                  <a:pt x="0" y="4000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59" name="Text 57"/>
          <p:cNvSpPr/>
          <p:nvPr/>
        </p:nvSpPr>
        <p:spPr>
          <a:xfrm>
            <a:off x="495300" y="6115050"/>
            <a:ext cx="112776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架构核心：</a:t>
            </a: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前端请求走网关，业务走服务集群；指标和文档通过调度体系持续同步；监控链路保证可观测性；多数据源+对象存储保证可扩展与可迁移。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607839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核心业务链路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829131"/>
            <a:ext cx="1153246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从数据到建议的完整闭环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878" y="1168321"/>
            <a:ext cx="904507" cy="37688"/>
          </a:xfrm>
          <a:custGeom>
            <a:avLst/>
            <a:gdLst/>
            <a:ahLst/>
            <a:cxnLst/>
            <a:rect l="l" t="t" r="r" b="b"/>
            <a:pathLst>
              <a:path w="904507" h="37688">
                <a:moveTo>
                  <a:pt x="0" y="0"/>
                </a:moveTo>
                <a:lnTo>
                  <a:pt x="904507" y="0"/>
                </a:lnTo>
                <a:lnTo>
                  <a:pt x="904507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376878" y="1356760"/>
            <a:ext cx="2110516" cy="1356760"/>
          </a:xfrm>
          <a:custGeom>
            <a:avLst/>
            <a:gdLst/>
            <a:ahLst/>
            <a:cxnLst/>
            <a:rect l="l" t="t" r="r" b="b"/>
            <a:pathLst>
              <a:path w="2110516" h="1356760">
                <a:moveTo>
                  <a:pt x="75382" y="0"/>
                </a:moveTo>
                <a:lnTo>
                  <a:pt x="2035135" y="0"/>
                </a:lnTo>
                <a:cubicBezTo>
                  <a:pt x="2076767" y="0"/>
                  <a:pt x="2110516" y="33749"/>
                  <a:pt x="2110516" y="75382"/>
                </a:cubicBezTo>
                <a:lnTo>
                  <a:pt x="2110516" y="1281379"/>
                </a:lnTo>
                <a:cubicBezTo>
                  <a:pt x="2110516" y="1323011"/>
                  <a:pt x="2076767" y="1356760"/>
                  <a:pt x="2035135" y="1356760"/>
                </a:cubicBezTo>
                <a:lnTo>
                  <a:pt x="75382" y="1356760"/>
                </a:lnTo>
                <a:cubicBezTo>
                  <a:pt x="33749" y="1356760"/>
                  <a:pt x="0" y="1323011"/>
                  <a:pt x="0" y="1281379"/>
                </a:cubicBezTo>
                <a:lnTo>
                  <a:pt x="0" y="75382"/>
                </a:lnTo>
                <a:cubicBezTo>
                  <a:pt x="0" y="33777"/>
                  <a:pt x="33777" y="0"/>
                  <a:pt x="7538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1331537" y="1532638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113063" y="14133"/>
                </a:moveTo>
                <a:cubicBezTo>
                  <a:pt x="113063" y="6316"/>
                  <a:pt x="106748" y="0"/>
                  <a:pt x="98930" y="0"/>
                </a:cubicBezTo>
                <a:cubicBezTo>
                  <a:pt x="91113" y="0"/>
                  <a:pt x="84798" y="6316"/>
                  <a:pt x="84798" y="14133"/>
                </a:cubicBezTo>
                <a:lnTo>
                  <a:pt x="84798" y="107189"/>
                </a:lnTo>
                <a:lnTo>
                  <a:pt x="66513" y="88905"/>
                </a:lnTo>
                <a:cubicBezTo>
                  <a:pt x="60992" y="83384"/>
                  <a:pt x="52027" y="83384"/>
                  <a:pt x="46506" y="88905"/>
                </a:cubicBezTo>
                <a:cubicBezTo>
                  <a:pt x="40985" y="94426"/>
                  <a:pt x="40985" y="103391"/>
                  <a:pt x="46506" y="108912"/>
                </a:cubicBezTo>
                <a:lnTo>
                  <a:pt x="88905" y="151311"/>
                </a:lnTo>
                <a:cubicBezTo>
                  <a:pt x="94426" y="156831"/>
                  <a:pt x="103391" y="156831"/>
                  <a:pt x="108912" y="151311"/>
                </a:cubicBezTo>
                <a:lnTo>
                  <a:pt x="151311" y="108912"/>
                </a:lnTo>
                <a:cubicBezTo>
                  <a:pt x="156831" y="103391"/>
                  <a:pt x="156831" y="94426"/>
                  <a:pt x="151311" y="88905"/>
                </a:cubicBezTo>
                <a:cubicBezTo>
                  <a:pt x="145790" y="83384"/>
                  <a:pt x="136824" y="83384"/>
                  <a:pt x="131304" y="88905"/>
                </a:cubicBezTo>
                <a:lnTo>
                  <a:pt x="113063" y="107189"/>
                </a:lnTo>
                <a:lnTo>
                  <a:pt x="113063" y="14133"/>
                </a:lnTo>
                <a:close/>
                <a:moveTo>
                  <a:pt x="28266" y="141329"/>
                </a:moveTo>
                <a:cubicBezTo>
                  <a:pt x="12675" y="141329"/>
                  <a:pt x="0" y="154005"/>
                  <a:pt x="0" y="169595"/>
                </a:cubicBezTo>
                <a:lnTo>
                  <a:pt x="0" y="183728"/>
                </a:lnTo>
                <a:cubicBezTo>
                  <a:pt x="0" y="199318"/>
                  <a:pt x="12675" y="211994"/>
                  <a:pt x="28266" y="211994"/>
                </a:cubicBezTo>
                <a:lnTo>
                  <a:pt x="169595" y="211994"/>
                </a:lnTo>
                <a:cubicBezTo>
                  <a:pt x="185185" y="211994"/>
                  <a:pt x="197861" y="199318"/>
                  <a:pt x="197861" y="183728"/>
                </a:cubicBezTo>
                <a:lnTo>
                  <a:pt x="197861" y="169595"/>
                </a:lnTo>
                <a:cubicBezTo>
                  <a:pt x="197861" y="154005"/>
                  <a:pt x="185185" y="141329"/>
                  <a:pt x="169595" y="141329"/>
                </a:cubicBezTo>
                <a:lnTo>
                  <a:pt x="148881" y="141329"/>
                </a:lnTo>
                <a:lnTo>
                  <a:pt x="123884" y="166327"/>
                </a:lnTo>
                <a:cubicBezTo>
                  <a:pt x="110104" y="180106"/>
                  <a:pt x="87712" y="180106"/>
                  <a:pt x="73933" y="166327"/>
                </a:cubicBezTo>
                <a:lnTo>
                  <a:pt x="48979" y="141329"/>
                </a:lnTo>
                <a:lnTo>
                  <a:pt x="28266" y="141329"/>
                </a:lnTo>
                <a:close/>
                <a:moveTo>
                  <a:pt x="162529" y="166062"/>
                </a:moveTo>
                <a:cubicBezTo>
                  <a:pt x="168379" y="166062"/>
                  <a:pt x="173128" y="170811"/>
                  <a:pt x="173128" y="176662"/>
                </a:cubicBezTo>
                <a:cubicBezTo>
                  <a:pt x="173128" y="182512"/>
                  <a:pt x="168379" y="187261"/>
                  <a:pt x="162529" y="187261"/>
                </a:cubicBezTo>
                <a:cubicBezTo>
                  <a:pt x="156678" y="187261"/>
                  <a:pt x="151929" y="182512"/>
                  <a:pt x="151929" y="176662"/>
                </a:cubicBezTo>
                <a:cubicBezTo>
                  <a:pt x="151929" y="170811"/>
                  <a:pt x="156678" y="166062"/>
                  <a:pt x="162529" y="16606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485230" y="1884389"/>
            <a:ext cx="189381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数据同步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4652" y="2185892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XXL-JOB 拉取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4652" y="2374331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GitHub/Gitee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10184" y="1356760"/>
            <a:ext cx="2110516" cy="1356760"/>
          </a:xfrm>
          <a:custGeom>
            <a:avLst/>
            <a:gdLst/>
            <a:ahLst/>
            <a:cxnLst/>
            <a:rect l="l" t="t" r="r" b="b"/>
            <a:pathLst>
              <a:path w="2110516" h="1356760">
                <a:moveTo>
                  <a:pt x="75382" y="0"/>
                </a:moveTo>
                <a:lnTo>
                  <a:pt x="2035135" y="0"/>
                </a:lnTo>
                <a:cubicBezTo>
                  <a:pt x="2076767" y="0"/>
                  <a:pt x="2110516" y="33749"/>
                  <a:pt x="2110516" y="75382"/>
                </a:cubicBezTo>
                <a:lnTo>
                  <a:pt x="2110516" y="1281379"/>
                </a:lnTo>
                <a:cubicBezTo>
                  <a:pt x="2110516" y="1323011"/>
                  <a:pt x="2076767" y="1356760"/>
                  <a:pt x="2035135" y="1356760"/>
                </a:cubicBezTo>
                <a:lnTo>
                  <a:pt x="75382" y="1356760"/>
                </a:lnTo>
                <a:cubicBezTo>
                  <a:pt x="33749" y="1356760"/>
                  <a:pt x="0" y="1323011"/>
                  <a:pt x="0" y="1281379"/>
                </a:cubicBezTo>
                <a:lnTo>
                  <a:pt x="0" y="75382"/>
                </a:lnTo>
                <a:cubicBezTo>
                  <a:pt x="0" y="33777"/>
                  <a:pt x="33777" y="0"/>
                  <a:pt x="75382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1" name="Shape 9"/>
          <p:cNvSpPr/>
          <p:nvPr/>
        </p:nvSpPr>
        <p:spPr>
          <a:xfrm>
            <a:off x="3650710" y="1532638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4133" y="14133"/>
                </a:moveTo>
                <a:cubicBezTo>
                  <a:pt x="21950" y="14133"/>
                  <a:pt x="28266" y="20449"/>
                  <a:pt x="28266" y="28266"/>
                </a:cubicBezTo>
                <a:lnTo>
                  <a:pt x="28266" y="176662"/>
                </a:lnTo>
                <a:cubicBezTo>
                  <a:pt x="28266" y="180548"/>
                  <a:pt x="31446" y="183728"/>
                  <a:pt x="35332" y="183728"/>
                </a:cubicBezTo>
                <a:lnTo>
                  <a:pt x="211994" y="183728"/>
                </a:lnTo>
                <a:cubicBezTo>
                  <a:pt x="219811" y="183728"/>
                  <a:pt x="226127" y="190044"/>
                  <a:pt x="226127" y="197861"/>
                </a:cubicBezTo>
                <a:cubicBezTo>
                  <a:pt x="226127" y="205678"/>
                  <a:pt x="219811" y="211994"/>
                  <a:pt x="211994" y="211994"/>
                </a:cubicBezTo>
                <a:lnTo>
                  <a:pt x="35332" y="211994"/>
                </a:lnTo>
                <a:cubicBezTo>
                  <a:pt x="15811" y="211994"/>
                  <a:pt x="0" y="196183"/>
                  <a:pt x="0" y="176662"/>
                </a:cubicBezTo>
                <a:lnTo>
                  <a:pt x="0" y="28266"/>
                </a:lnTo>
                <a:cubicBezTo>
                  <a:pt x="0" y="20449"/>
                  <a:pt x="6316" y="14133"/>
                  <a:pt x="14133" y="14133"/>
                </a:cubicBezTo>
                <a:close/>
                <a:moveTo>
                  <a:pt x="56532" y="42399"/>
                </a:moveTo>
                <a:cubicBezTo>
                  <a:pt x="56532" y="34581"/>
                  <a:pt x="62847" y="28266"/>
                  <a:pt x="70665" y="28266"/>
                </a:cubicBezTo>
                <a:lnTo>
                  <a:pt x="155462" y="28266"/>
                </a:lnTo>
                <a:cubicBezTo>
                  <a:pt x="163279" y="28266"/>
                  <a:pt x="169595" y="34581"/>
                  <a:pt x="169595" y="42399"/>
                </a:cubicBezTo>
                <a:cubicBezTo>
                  <a:pt x="169595" y="50216"/>
                  <a:pt x="163279" y="56532"/>
                  <a:pt x="155462" y="56532"/>
                </a:cubicBezTo>
                <a:lnTo>
                  <a:pt x="70665" y="56532"/>
                </a:lnTo>
                <a:cubicBezTo>
                  <a:pt x="62847" y="56532"/>
                  <a:pt x="56532" y="50216"/>
                  <a:pt x="56532" y="42399"/>
                </a:cubicBezTo>
                <a:close/>
                <a:moveTo>
                  <a:pt x="70665" y="77731"/>
                </a:moveTo>
                <a:lnTo>
                  <a:pt x="127196" y="77731"/>
                </a:lnTo>
                <a:cubicBezTo>
                  <a:pt x="135014" y="77731"/>
                  <a:pt x="141329" y="84047"/>
                  <a:pt x="141329" y="91864"/>
                </a:cubicBezTo>
                <a:cubicBezTo>
                  <a:pt x="141329" y="99681"/>
                  <a:pt x="135014" y="105997"/>
                  <a:pt x="127196" y="105997"/>
                </a:cubicBezTo>
                <a:lnTo>
                  <a:pt x="70665" y="105997"/>
                </a:lnTo>
                <a:cubicBezTo>
                  <a:pt x="62847" y="105997"/>
                  <a:pt x="56532" y="99681"/>
                  <a:pt x="56532" y="91864"/>
                </a:cubicBezTo>
                <a:cubicBezTo>
                  <a:pt x="56532" y="84047"/>
                  <a:pt x="62847" y="77731"/>
                  <a:pt x="70665" y="77731"/>
                </a:cubicBezTo>
                <a:close/>
                <a:moveTo>
                  <a:pt x="70665" y="127196"/>
                </a:moveTo>
                <a:lnTo>
                  <a:pt x="183728" y="127196"/>
                </a:lnTo>
                <a:cubicBezTo>
                  <a:pt x="191545" y="127196"/>
                  <a:pt x="197861" y="133512"/>
                  <a:pt x="197861" y="141329"/>
                </a:cubicBezTo>
                <a:cubicBezTo>
                  <a:pt x="197861" y="149146"/>
                  <a:pt x="191545" y="155462"/>
                  <a:pt x="183728" y="155462"/>
                </a:cubicBezTo>
                <a:lnTo>
                  <a:pt x="70665" y="155462"/>
                </a:lnTo>
                <a:cubicBezTo>
                  <a:pt x="62847" y="155462"/>
                  <a:pt x="56532" y="149146"/>
                  <a:pt x="56532" y="141329"/>
                </a:cubicBezTo>
                <a:cubicBezTo>
                  <a:pt x="56532" y="133512"/>
                  <a:pt x="62847" y="127196"/>
                  <a:pt x="70665" y="12719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2818536" y="1884389"/>
            <a:ext cx="189381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指标计算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27958" y="2185892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OpenDigger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27958" y="2374331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健康度画像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43490" y="1356760"/>
            <a:ext cx="2110516" cy="1356760"/>
          </a:xfrm>
          <a:custGeom>
            <a:avLst/>
            <a:gdLst/>
            <a:ahLst/>
            <a:cxnLst/>
            <a:rect l="l" t="t" r="r" b="b"/>
            <a:pathLst>
              <a:path w="2110516" h="1356760">
                <a:moveTo>
                  <a:pt x="75382" y="0"/>
                </a:moveTo>
                <a:lnTo>
                  <a:pt x="2035135" y="0"/>
                </a:lnTo>
                <a:cubicBezTo>
                  <a:pt x="2076767" y="0"/>
                  <a:pt x="2110516" y="33749"/>
                  <a:pt x="2110516" y="75382"/>
                </a:cubicBezTo>
                <a:lnTo>
                  <a:pt x="2110516" y="1281379"/>
                </a:lnTo>
                <a:cubicBezTo>
                  <a:pt x="2110516" y="1323011"/>
                  <a:pt x="2076767" y="1356760"/>
                  <a:pt x="2035135" y="1356760"/>
                </a:cubicBezTo>
                <a:lnTo>
                  <a:pt x="75382" y="1356760"/>
                </a:lnTo>
                <a:cubicBezTo>
                  <a:pt x="33749" y="1356760"/>
                  <a:pt x="0" y="1323011"/>
                  <a:pt x="0" y="1281379"/>
                </a:cubicBezTo>
                <a:lnTo>
                  <a:pt x="0" y="75382"/>
                </a:lnTo>
                <a:cubicBezTo>
                  <a:pt x="0" y="33777"/>
                  <a:pt x="33777" y="0"/>
                  <a:pt x="75382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6" name="Shape 14"/>
          <p:cNvSpPr/>
          <p:nvPr/>
        </p:nvSpPr>
        <p:spPr>
          <a:xfrm>
            <a:off x="5998150" y="1532638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169595" y="226127"/>
                </a:moveTo>
                <a:lnTo>
                  <a:pt x="42399" y="226127"/>
                </a:lnTo>
                <a:cubicBezTo>
                  <a:pt x="18991" y="226127"/>
                  <a:pt x="0" y="207136"/>
                  <a:pt x="0" y="183728"/>
                </a:cubicBezTo>
                <a:lnTo>
                  <a:pt x="0" y="42399"/>
                </a:lnTo>
                <a:cubicBezTo>
                  <a:pt x="0" y="18991"/>
                  <a:pt x="18991" y="0"/>
                  <a:pt x="42399" y="0"/>
                </a:cubicBezTo>
                <a:lnTo>
                  <a:pt x="176662" y="0"/>
                </a:lnTo>
                <a:cubicBezTo>
                  <a:pt x="188365" y="0"/>
                  <a:pt x="197861" y="9496"/>
                  <a:pt x="197861" y="21199"/>
                </a:cubicBezTo>
                <a:lnTo>
                  <a:pt x="197861" y="148396"/>
                </a:lnTo>
                <a:cubicBezTo>
                  <a:pt x="197861" y="157626"/>
                  <a:pt x="191943" y="165488"/>
                  <a:pt x="183728" y="168403"/>
                </a:cubicBezTo>
                <a:lnTo>
                  <a:pt x="183728" y="197861"/>
                </a:lnTo>
                <a:cubicBezTo>
                  <a:pt x="191545" y="197861"/>
                  <a:pt x="197861" y="204177"/>
                  <a:pt x="197861" y="211994"/>
                </a:cubicBezTo>
                <a:cubicBezTo>
                  <a:pt x="197861" y="219811"/>
                  <a:pt x="191545" y="226127"/>
                  <a:pt x="183728" y="226127"/>
                </a:cubicBezTo>
                <a:lnTo>
                  <a:pt x="169595" y="226127"/>
                </a:lnTo>
                <a:close/>
                <a:moveTo>
                  <a:pt x="42399" y="169595"/>
                </a:moveTo>
                <a:cubicBezTo>
                  <a:pt x="34581" y="169595"/>
                  <a:pt x="28266" y="175911"/>
                  <a:pt x="28266" y="183728"/>
                </a:cubicBezTo>
                <a:cubicBezTo>
                  <a:pt x="28266" y="191545"/>
                  <a:pt x="34581" y="197861"/>
                  <a:pt x="42399" y="197861"/>
                </a:cubicBezTo>
                <a:lnTo>
                  <a:pt x="155462" y="197861"/>
                </a:lnTo>
                <a:lnTo>
                  <a:pt x="155462" y="169595"/>
                </a:lnTo>
                <a:lnTo>
                  <a:pt x="42399" y="169595"/>
                </a:lnTo>
                <a:close/>
                <a:moveTo>
                  <a:pt x="56532" y="67131"/>
                </a:moveTo>
                <a:cubicBezTo>
                  <a:pt x="56532" y="73005"/>
                  <a:pt x="61257" y="77731"/>
                  <a:pt x="67131" y="77731"/>
                </a:cubicBezTo>
                <a:lnTo>
                  <a:pt x="144862" y="77731"/>
                </a:lnTo>
                <a:cubicBezTo>
                  <a:pt x="150736" y="77731"/>
                  <a:pt x="155462" y="73005"/>
                  <a:pt x="155462" y="67131"/>
                </a:cubicBezTo>
                <a:cubicBezTo>
                  <a:pt x="155462" y="61257"/>
                  <a:pt x="150736" y="56532"/>
                  <a:pt x="144862" y="56532"/>
                </a:cubicBezTo>
                <a:lnTo>
                  <a:pt x="67131" y="56532"/>
                </a:lnTo>
                <a:cubicBezTo>
                  <a:pt x="61257" y="56532"/>
                  <a:pt x="56532" y="61257"/>
                  <a:pt x="56532" y="67131"/>
                </a:cubicBezTo>
                <a:close/>
                <a:moveTo>
                  <a:pt x="67131" y="98930"/>
                </a:moveTo>
                <a:cubicBezTo>
                  <a:pt x="61257" y="98930"/>
                  <a:pt x="56532" y="103656"/>
                  <a:pt x="56532" y="109530"/>
                </a:cubicBezTo>
                <a:cubicBezTo>
                  <a:pt x="56532" y="115404"/>
                  <a:pt x="61257" y="120130"/>
                  <a:pt x="67131" y="120130"/>
                </a:cubicBezTo>
                <a:lnTo>
                  <a:pt x="144862" y="120130"/>
                </a:lnTo>
                <a:cubicBezTo>
                  <a:pt x="150736" y="120130"/>
                  <a:pt x="155462" y="115404"/>
                  <a:pt x="155462" y="109530"/>
                </a:cubicBezTo>
                <a:cubicBezTo>
                  <a:pt x="155462" y="103656"/>
                  <a:pt x="150736" y="98930"/>
                  <a:pt x="144862" y="98930"/>
                </a:cubicBezTo>
                <a:lnTo>
                  <a:pt x="67131" y="9893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151843" y="1884389"/>
            <a:ext cx="189381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知识汇聚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1264" y="2185892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MaxKB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1264" y="2374331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治理文档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6796" y="1356760"/>
            <a:ext cx="2110516" cy="1356760"/>
          </a:xfrm>
          <a:custGeom>
            <a:avLst/>
            <a:gdLst/>
            <a:ahLst/>
            <a:cxnLst/>
            <a:rect l="l" t="t" r="r" b="b"/>
            <a:pathLst>
              <a:path w="2110516" h="1356760">
                <a:moveTo>
                  <a:pt x="75382" y="0"/>
                </a:moveTo>
                <a:lnTo>
                  <a:pt x="2035135" y="0"/>
                </a:lnTo>
                <a:cubicBezTo>
                  <a:pt x="2076767" y="0"/>
                  <a:pt x="2110516" y="33749"/>
                  <a:pt x="2110516" y="75382"/>
                </a:cubicBezTo>
                <a:lnTo>
                  <a:pt x="2110516" y="1281379"/>
                </a:lnTo>
                <a:cubicBezTo>
                  <a:pt x="2110516" y="1323011"/>
                  <a:pt x="2076767" y="1356760"/>
                  <a:pt x="2035135" y="1356760"/>
                </a:cubicBezTo>
                <a:lnTo>
                  <a:pt x="75382" y="1356760"/>
                </a:lnTo>
                <a:cubicBezTo>
                  <a:pt x="33749" y="1356760"/>
                  <a:pt x="0" y="1323011"/>
                  <a:pt x="0" y="1281379"/>
                </a:cubicBezTo>
                <a:lnTo>
                  <a:pt x="0" y="75382"/>
                </a:lnTo>
                <a:cubicBezTo>
                  <a:pt x="0" y="33777"/>
                  <a:pt x="33777" y="0"/>
                  <a:pt x="75382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1" name="Shape 19"/>
          <p:cNvSpPr/>
          <p:nvPr/>
        </p:nvSpPr>
        <p:spPr>
          <a:xfrm>
            <a:off x="8317322" y="1532638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52998" y="24733"/>
                </a:moveTo>
                <a:cubicBezTo>
                  <a:pt x="52998" y="11086"/>
                  <a:pt x="64084" y="0"/>
                  <a:pt x="77731" y="0"/>
                </a:cubicBezTo>
                <a:lnTo>
                  <a:pt x="88331" y="0"/>
                </a:lnTo>
                <a:cubicBezTo>
                  <a:pt x="96148" y="0"/>
                  <a:pt x="102464" y="6316"/>
                  <a:pt x="102464" y="14133"/>
                </a:cubicBezTo>
                <a:lnTo>
                  <a:pt x="102464" y="211994"/>
                </a:lnTo>
                <a:cubicBezTo>
                  <a:pt x="102464" y="219811"/>
                  <a:pt x="96148" y="226127"/>
                  <a:pt x="88331" y="226127"/>
                </a:cubicBezTo>
                <a:lnTo>
                  <a:pt x="74198" y="226127"/>
                </a:lnTo>
                <a:cubicBezTo>
                  <a:pt x="61037" y="226127"/>
                  <a:pt x="49951" y="217117"/>
                  <a:pt x="46815" y="204927"/>
                </a:cubicBezTo>
                <a:cubicBezTo>
                  <a:pt x="46506" y="204927"/>
                  <a:pt x="46241" y="204927"/>
                  <a:pt x="45932" y="204927"/>
                </a:cubicBezTo>
                <a:cubicBezTo>
                  <a:pt x="26411" y="204927"/>
                  <a:pt x="10600" y="189116"/>
                  <a:pt x="10600" y="169595"/>
                </a:cubicBezTo>
                <a:cubicBezTo>
                  <a:pt x="10600" y="161645"/>
                  <a:pt x="13250" y="154314"/>
                  <a:pt x="17666" y="148396"/>
                </a:cubicBezTo>
                <a:cubicBezTo>
                  <a:pt x="9098" y="141948"/>
                  <a:pt x="3533" y="131701"/>
                  <a:pt x="3533" y="120130"/>
                </a:cubicBezTo>
                <a:cubicBezTo>
                  <a:pt x="3533" y="106483"/>
                  <a:pt x="11306" y="94602"/>
                  <a:pt x="22613" y="88728"/>
                </a:cubicBezTo>
                <a:cubicBezTo>
                  <a:pt x="19477" y="83428"/>
                  <a:pt x="17666" y="77245"/>
                  <a:pt x="17666" y="70665"/>
                </a:cubicBezTo>
                <a:cubicBezTo>
                  <a:pt x="17666" y="51144"/>
                  <a:pt x="33477" y="35332"/>
                  <a:pt x="52998" y="35332"/>
                </a:cubicBezTo>
                <a:lnTo>
                  <a:pt x="52998" y="24733"/>
                </a:lnTo>
                <a:close/>
                <a:moveTo>
                  <a:pt x="173128" y="24733"/>
                </a:moveTo>
                <a:lnTo>
                  <a:pt x="173128" y="35332"/>
                </a:lnTo>
                <a:cubicBezTo>
                  <a:pt x="192649" y="35332"/>
                  <a:pt x="208461" y="51144"/>
                  <a:pt x="208461" y="70665"/>
                </a:cubicBezTo>
                <a:cubicBezTo>
                  <a:pt x="208461" y="77289"/>
                  <a:pt x="206650" y="83473"/>
                  <a:pt x="203514" y="88728"/>
                </a:cubicBezTo>
                <a:cubicBezTo>
                  <a:pt x="214865" y="94602"/>
                  <a:pt x="222594" y="106439"/>
                  <a:pt x="222594" y="120130"/>
                </a:cubicBezTo>
                <a:cubicBezTo>
                  <a:pt x="222594" y="131701"/>
                  <a:pt x="217029" y="141948"/>
                  <a:pt x="208461" y="148396"/>
                </a:cubicBezTo>
                <a:cubicBezTo>
                  <a:pt x="212877" y="154314"/>
                  <a:pt x="215527" y="161645"/>
                  <a:pt x="215527" y="169595"/>
                </a:cubicBezTo>
                <a:cubicBezTo>
                  <a:pt x="215527" y="189116"/>
                  <a:pt x="199716" y="204927"/>
                  <a:pt x="180195" y="204927"/>
                </a:cubicBezTo>
                <a:cubicBezTo>
                  <a:pt x="179886" y="204927"/>
                  <a:pt x="179621" y="204927"/>
                  <a:pt x="179311" y="204927"/>
                </a:cubicBezTo>
                <a:cubicBezTo>
                  <a:pt x="176176" y="217117"/>
                  <a:pt x="165090" y="226127"/>
                  <a:pt x="151929" y="226127"/>
                </a:cubicBezTo>
                <a:lnTo>
                  <a:pt x="137796" y="226127"/>
                </a:lnTo>
                <a:cubicBezTo>
                  <a:pt x="129979" y="226127"/>
                  <a:pt x="123663" y="219811"/>
                  <a:pt x="123663" y="211994"/>
                </a:cubicBezTo>
                <a:lnTo>
                  <a:pt x="123663" y="14133"/>
                </a:lnTo>
                <a:cubicBezTo>
                  <a:pt x="123663" y="6316"/>
                  <a:pt x="129979" y="0"/>
                  <a:pt x="137796" y="0"/>
                </a:cubicBezTo>
                <a:lnTo>
                  <a:pt x="148396" y="0"/>
                </a:lnTo>
                <a:cubicBezTo>
                  <a:pt x="162043" y="0"/>
                  <a:pt x="173128" y="11086"/>
                  <a:pt x="173128" y="247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7485148" y="1884389"/>
            <a:ext cx="189381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智能融合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4570" y="2185892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指标+证据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4570" y="2374331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生成建议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10102" y="1356760"/>
            <a:ext cx="2110516" cy="1356760"/>
          </a:xfrm>
          <a:custGeom>
            <a:avLst/>
            <a:gdLst/>
            <a:ahLst/>
            <a:cxnLst/>
            <a:rect l="l" t="t" r="r" b="b"/>
            <a:pathLst>
              <a:path w="2110516" h="1356760">
                <a:moveTo>
                  <a:pt x="75382" y="0"/>
                </a:moveTo>
                <a:lnTo>
                  <a:pt x="2035135" y="0"/>
                </a:lnTo>
                <a:cubicBezTo>
                  <a:pt x="2076767" y="0"/>
                  <a:pt x="2110516" y="33749"/>
                  <a:pt x="2110516" y="75382"/>
                </a:cubicBezTo>
                <a:lnTo>
                  <a:pt x="2110516" y="1281379"/>
                </a:lnTo>
                <a:cubicBezTo>
                  <a:pt x="2110516" y="1323011"/>
                  <a:pt x="2076767" y="1356760"/>
                  <a:pt x="2035135" y="1356760"/>
                </a:cubicBezTo>
                <a:lnTo>
                  <a:pt x="75382" y="1356760"/>
                </a:lnTo>
                <a:cubicBezTo>
                  <a:pt x="33749" y="1356760"/>
                  <a:pt x="0" y="1323011"/>
                  <a:pt x="0" y="1281379"/>
                </a:cubicBezTo>
                <a:lnTo>
                  <a:pt x="0" y="75382"/>
                </a:lnTo>
                <a:cubicBezTo>
                  <a:pt x="0" y="33777"/>
                  <a:pt x="33777" y="0"/>
                  <a:pt x="75382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26" name="Shape 24"/>
          <p:cNvSpPr/>
          <p:nvPr/>
        </p:nvSpPr>
        <p:spPr>
          <a:xfrm>
            <a:off x="10678894" y="1532638"/>
            <a:ext cx="169595" cy="226127"/>
          </a:xfrm>
          <a:custGeom>
            <a:avLst/>
            <a:gdLst/>
            <a:ahLst/>
            <a:cxnLst/>
            <a:rect l="l" t="t" r="r" b="b"/>
            <a:pathLst>
              <a:path w="169595" h="226127">
                <a:moveTo>
                  <a:pt x="0" y="28266"/>
                </a:moveTo>
                <a:cubicBezTo>
                  <a:pt x="0" y="12675"/>
                  <a:pt x="12675" y="0"/>
                  <a:pt x="28266" y="0"/>
                </a:cubicBezTo>
                <a:lnTo>
                  <a:pt x="94293" y="0"/>
                </a:lnTo>
                <a:cubicBezTo>
                  <a:pt x="101801" y="0"/>
                  <a:pt x="109000" y="2959"/>
                  <a:pt x="114300" y="8259"/>
                </a:cubicBezTo>
                <a:lnTo>
                  <a:pt x="161336" y="55339"/>
                </a:lnTo>
                <a:cubicBezTo>
                  <a:pt x="166636" y="60639"/>
                  <a:pt x="169595" y="67838"/>
                  <a:pt x="169595" y="75346"/>
                </a:cubicBezTo>
                <a:lnTo>
                  <a:pt x="169595" y="197861"/>
                </a:lnTo>
                <a:cubicBezTo>
                  <a:pt x="169595" y="213451"/>
                  <a:pt x="156920" y="226127"/>
                  <a:pt x="141329" y="226127"/>
                </a:cubicBezTo>
                <a:lnTo>
                  <a:pt x="28266" y="226127"/>
                </a:lnTo>
                <a:cubicBezTo>
                  <a:pt x="12675" y="226127"/>
                  <a:pt x="0" y="213451"/>
                  <a:pt x="0" y="197861"/>
                </a:cubicBezTo>
                <a:lnTo>
                  <a:pt x="0" y="28266"/>
                </a:lnTo>
                <a:close/>
                <a:moveTo>
                  <a:pt x="91864" y="25837"/>
                </a:moveTo>
                <a:lnTo>
                  <a:pt x="91864" y="67131"/>
                </a:lnTo>
                <a:cubicBezTo>
                  <a:pt x="91864" y="73005"/>
                  <a:pt x="96590" y="77731"/>
                  <a:pt x="102464" y="77731"/>
                </a:cubicBezTo>
                <a:lnTo>
                  <a:pt x="143758" y="77731"/>
                </a:lnTo>
                <a:lnTo>
                  <a:pt x="91864" y="25837"/>
                </a:lnTo>
                <a:close/>
                <a:moveTo>
                  <a:pt x="52998" y="113063"/>
                </a:moveTo>
                <a:cubicBezTo>
                  <a:pt x="47124" y="113063"/>
                  <a:pt x="42399" y="117789"/>
                  <a:pt x="42399" y="123663"/>
                </a:cubicBezTo>
                <a:cubicBezTo>
                  <a:pt x="42399" y="129537"/>
                  <a:pt x="47124" y="134263"/>
                  <a:pt x="52998" y="134263"/>
                </a:cubicBezTo>
                <a:lnTo>
                  <a:pt x="116597" y="134263"/>
                </a:lnTo>
                <a:cubicBezTo>
                  <a:pt x="122471" y="134263"/>
                  <a:pt x="127196" y="129537"/>
                  <a:pt x="127196" y="123663"/>
                </a:cubicBezTo>
                <a:cubicBezTo>
                  <a:pt x="127196" y="117789"/>
                  <a:pt x="122471" y="113063"/>
                  <a:pt x="116597" y="113063"/>
                </a:cubicBezTo>
                <a:lnTo>
                  <a:pt x="52998" y="113063"/>
                </a:lnTo>
                <a:close/>
                <a:moveTo>
                  <a:pt x="52998" y="155462"/>
                </a:moveTo>
                <a:cubicBezTo>
                  <a:pt x="47124" y="155462"/>
                  <a:pt x="42399" y="160188"/>
                  <a:pt x="42399" y="166062"/>
                </a:cubicBezTo>
                <a:cubicBezTo>
                  <a:pt x="42399" y="171936"/>
                  <a:pt x="47124" y="176662"/>
                  <a:pt x="52998" y="176662"/>
                </a:cubicBezTo>
                <a:lnTo>
                  <a:pt x="116597" y="176662"/>
                </a:lnTo>
                <a:cubicBezTo>
                  <a:pt x="122471" y="176662"/>
                  <a:pt x="127196" y="171936"/>
                  <a:pt x="127196" y="166062"/>
                </a:cubicBezTo>
                <a:cubicBezTo>
                  <a:pt x="127196" y="160188"/>
                  <a:pt x="122471" y="155462"/>
                  <a:pt x="116597" y="155462"/>
                </a:cubicBezTo>
                <a:lnTo>
                  <a:pt x="52998" y="1554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9818455" y="1884389"/>
            <a:ext cx="189381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报告沉淀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27877" y="2185892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落库+存储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27877" y="2374331"/>
            <a:ext cx="1874968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审计复盘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5722" y="2864272"/>
            <a:ext cx="5624903" cy="1130634"/>
          </a:xfrm>
          <a:custGeom>
            <a:avLst/>
            <a:gdLst/>
            <a:ahLst/>
            <a:cxnLst/>
            <a:rect l="l" t="t" r="r" b="b"/>
            <a:pathLst>
              <a:path w="5624903" h="1130634">
                <a:moveTo>
                  <a:pt x="37688" y="0"/>
                </a:moveTo>
                <a:lnTo>
                  <a:pt x="5549523" y="0"/>
                </a:lnTo>
                <a:cubicBezTo>
                  <a:pt x="5591154" y="0"/>
                  <a:pt x="5624903" y="33748"/>
                  <a:pt x="5624903" y="75379"/>
                </a:cubicBezTo>
                <a:lnTo>
                  <a:pt x="5624903" y="1055254"/>
                </a:lnTo>
                <a:cubicBezTo>
                  <a:pt x="5624903" y="1096885"/>
                  <a:pt x="5591154" y="1130634"/>
                  <a:pt x="5549523" y="1130634"/>
                </a:cubicBez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1" name="Shape 29"/>
          <p:cNvSpPr/>
          <p:nvPr/>
        </p:nvSpPr>
        <p:spPr>
          <a:xfrm>
            <a:off x="395722" y="2864272"/>
            <a:ext cx="37688" cy="1130634"/>
          </a:xfrm>
          <a:custGeom>
            <a:avLst/>
            <a:gdLst/>
            <a:ahLst/>
            <a:cxnLst/>
            <a:rect l="l" t="t" r="r" b="b"/>
            <a:pathLst>
              <a:path w="37688" h="1130634">
                <a:moveTo>
                  <a:pt x="37688" y="0"/>
                </a:moveTo>
                <a:lnTo>
                  <a:pt x="37688" y="0"/>
                </a:lnTo>
                <a:lnTo>
                  <a:pt x="37688" y="1130634"/>
                </a:ln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2" name="Text 30"/>
          <p:cNvSpPr/>
          <p:nvPr/>
        </p:nvSpPr>
        <p:spPr>
          <a:xfrm>
            <a:off x="565317" y="3015023"/>
            <a:ext cx="538935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dirty="0">
                <a:solidFill>
                  <a:srgbClr val="FFFFFF"/>
                </a:solidFill>
                <a:highlight>
                  <a:srgbClr val="5E81AC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 </a:t>
            </a:r>
            <a:r>
              <a:rPr lang="en-US" sz="133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数据同步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5317" y="3354213"/>
            <a:ext cx="5379932" cy="489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XXL-JOB 定时拉取/同步开源数据，包括</a:t>
            </a:r>
            <a:r>
              <a:rPr lang="en-US" sz="118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仓库、PR、Issue、贡献者、Release</a:t>
            </a: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等全维度信息。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95722" y="4107969"/>
            <a:ext cx="5624903" cy="1130634"/>
          </a:xfrm>
          <a:custGeom>
            <a:avLst/>
            <a:gdLst/>
            <a:ahLst/>
            <a:cxnLst/>
            <a:rect l="l" t="t" r="r" b="b"/>
            <a:pathLst>
              <a:path w="5624903" h="1130634">
                <a:moveTo>
                  <a:pt x="37688" y="0"/>
                </a:moveTo>
                <a:lnTo>
                  <a:pt x="5549523" y="0"/>
                </a:lnTo>
                <a:cubicBezTo>
                  <a:pt x="5591154" y="0"/>
                  <a:pt x="5624903" y="33748"/>
                  <a:pt x="5624903" y="75379"/>
                </a:cubicBezTo>
                <a:lnTo>
                  <a:pt x="5624903" y="1055254"/>
                </a:lnTo>
                <a:cubicBezTo>
                  <a:pt x="5624903" y="1096885"/>
                  <a:pt x="5591154" y="1130634"/>
                  <a:pt x="5549523" y="1130634"/>
                </a:cubicBez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5" name="Shape 33"/>
          <p:cNvSpPr/>
          <p:nvPr/>
        </p:nvSpPr>
        <p:spPr>
          <a:xfrm>
            <a:off x="395722" y="4107969"/>
            <a:ext cx="37688" cy="1130634"/>
          </a:xfrm>
          <a:custGeom>
            <a:avLst/>
            <a:gdLst/>
            <a:ahLst/>
            <a:cxnLst/>
            <a:rect l="l" t="t" r="r" b="b"/>
            <a:pathLst>
              <a:path w="37688" h="1130634">
                <a:moveTo>
                  <a:pt x="37688" y="0"/>
                </a:moveTo>
                <a:lnTo>
                  <a:pt x="37688" y="0"/>
                </a:lnTo>
                <a:lnTo>
                  <a:pt x="37688" y="1130634"/>
                </a:ln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6" name="Text 34"/>
          <p:cNvSpPr/>
          <p:nvPr/>
        </p:nvSpPr>
        <p:spPr>
          <a:xfrm>
            <a:off x="565317" y="4258720"/>
            <a:ext cx="538935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dirty="0">
                <a:solidFill>
                  <a:srgbClr val="FFFFFF"/>
                </a:solidFill>
                <a:highlight>
                  <a:srgbClr val="88C0D0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 </a:t>
            </a:r>
            <a:r>
              <a:rPr lang="en-US" sz="133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指标计算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5317" y="4597910"/>
            <a:ext cx="5379932" cy="489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OpenDigger 产出治理指标与画像，包括</a:t>
            </a:r>
            <a:r>
              <a:rPr lang="en-US" sz="118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活跃度、贡献分布、影响力/排名、趋势</a:t>
            </a: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等。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5722" y="5351666"/>
            <a:ext cx="5624903" cy="1130634"/>
          </a:xfrm>
          <a:custGeom>
            <a:avLst/>
            <a:gdLst/>
            <a:ahLst/>
            <a:cxnLst/>
            <a:rect l="l" t="t" r="r" b="b"/>
            <a:pathLst>
              <a:path w="5624903" h="1130634">
                <a:moveTo>
                  <a:pt x="37688" y="0"/>
                </a:moveTo>
                <a:lnTo>
                  <a:pt x="5549523" y="0"/>
                </a:lnTo>
                <a:cubicBezTo>
                  <a:pt x="5591154" y="0"/>
                  <a:pt x="5624903" y="33748"/>
                  <a:pt x="5624903" y="75379"/>
                </a:cubicBezTo>
                <a:lnTo>
                  <a:pt x="5624903" y="1055254"/>
                </a:lnTo>
                <a:cubicBezTo>
                  <a:pt x="5624903" y="1096885"/>
                  <a:pt x="5591154" y="1130634"/>
                  <a:pt x="5549523" y="1130634"/>
                </a:cubicBez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73"/>
                  <a:pt x="16873" y="0"/>
                  <a:pt x="3768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9" name="Shape 37"/>
          <p:cNvSpPr/>
          <p:nvPr/>
        </p:nvSpPr>
        <p:spPr>
          <a:xfrm>
            <a:off x="395722" y="5351666"/>
            <a:ext cx="37688" cy="1130634"/>
          </a:xfrm>
          <a:custGeom>
            <a:avLst/>
            <a:gdLst/>
            <a:ahLst/>
            <a:cxnLst/>
            <a:rect l="l" t="t" r="r" b="b"/>
            <a:pathLst>
              <a:path w="37688" h="1130634">
                <a:moveTo>
                  <a:pt x="37688" y="0"/>
                </a:moveTo>
                <a:lnTo>
                  <a:pt x="37688" y="0"/>
                </a:lnTo>
                <a:lnTo>
                  <a:pt x="37688" y="1130634"/>
                </a:lnTo>
                <a:lnTo>
                  <a:pt x="37688" y="1130634"/>
                </a:lnTo>
                <a:cubicBezTo>
                  <a:pt x="16873" y="1130634"/>
                  <a:pt x="0" y="1113760"/>
                  <a:pt x="0" y="1092946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40" name="Text 38"/>
          <p:cNvSpPr/>
          <p:nvPr/>
        </p:nvSpPr>
        <p:spPr>
          <a:xfrm>
            <a:off x="565317" y="5502417"/>
            <a:ext cx="538935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dirty="0">
                <a:solidFill>
                  <a:srgbClr val="FFFFFF"/>
                </a:solidFill>
                <a:highlight>
                  <a:srgbClr val="B48EAD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 </a:t>
            </a:r>
            <a:r>
              <a:rPr lang="en-US" sz="133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知识汇聚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5317" y="5841607"/>
            <a:ext cx="5379932" cy="489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MaxKB 汇聚治理文档与社区规范，包括</a:t>
            </a:r>
            <a:r>
              <a:rPr lang="en-US" sz="118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规则、流程、决策记录、RFC、贡献指南</a:t>
            </a: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01" y="2864272"/>
            <a:ext cx="5624903" cy="885663"/>
          </a:xfrm>
          <a:custGeom>
            <a:avLst/>
            <a:gdLst/>
            <a:ahLst/>
            <a:cxnLst/>
            <a:rect l="l" t="t" r="r" b="b"/>
            <a:pathLst>
              <a:path w="5624903" h="885663">
                <a:moveTo>
                  <a:pt x="37688" y="0"/>
                </a:moveTo>
                <a:lnTo>
                  <a:pt x="5549524" y="0"/>
                </a:lnTo>
                <a:cubicBezTo>
                  <a:pt x="5591154" y="0"/>
                  <a:pt x="5624903" y="33748"/>
                  <a:pt x="5624903" y="75379"/>
                </a:cubicBezTo>
                <a:lnTo>
                  <a:pt x="5624903" y="810284"/>
                </a:lnTo>
                <a:cubicBezTo>
                  <a:pt x="5624903" y="851915"/>
                  <a:pt x="5591154" y="885663"/>
                  <a:pt x="5549524" y="885663"/>
                </a:cubicBezTo>
                <a:lnTo>
                  <a:pt x="37688" y="885663"/>
                </a:lnTo>
                <a:cubicBezTo>
                  <a:pt x="16873" y="885663"/>
                  <a:pt x="0" y="868790"/>
                  <a:pt x="0" y="8479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43" name="Shape 41"/>
          <p:cNvSpPr/>
          <p:nvPr/>
        </p:nvSpPr>
        <p:spPr>
          <a:xfrm>
            <a:off x="6191201" y="2864272"/>
            <a:ext cx="37688" cy="885663"/>
          </a:xfrm>
          <a:custGeom>
            <a:avLst/>
            <a:gdLst/>
            <a:ahLst/>
            <a:cxnLst/>
            <a:rect l="l" t="t" r="r" b="b"/>
            <a:pathLst>
              <a:path w="37688" h="885663">
                <a:moveTo>
                  <a:pt x="37688" y="0"/>
                </a:moveTo>
                <a:lnTo>
                  <a:pt x="37688" y="0"/>
                </a:lnTo>
                <a:lnTo>
                  <a:pt x="37688" y="885663"/>
                </a:lnTo>
                <a:lnTo>
                  <a:pt x="37688" y="885663"/>
                </a:lnTo>
                <a:cubicBezTo>
                  <a:pt x="16873" y="885663"/>
                  <a:pt x="0" y="868790"/>
                  <a:pt x="0" y="8479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4" name="Text 42"/>
          <p:cNvSpPr/>
          <p:nvPr/>
        </p:nvSpPr>
        <p:spPr>
          <a:xfrm>
            <a:off x="6360796" y="3015023"/>
            <a:ext cx="538935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dirty="0">
                <a:solidFill>
                  <a:srgbClr val="FFFFFF"/>
                </a:solidFill>
                <a:highlight>
                  <a:srgbClr val="A3BE8C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 </a:t>
            </a:r>
            <a:r>
              <a:rPr lang="en-US" sz="133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智能融合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60796" y="3354213"/>
            <a:ext cx="5379932" cy="2449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业务服务融合</a:t>
            </a:r>
            <a:r>
              <a:rPr lang="en-US" sz="118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指标结果 + 文档证据</a:t>
            </a: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，生成治理洞察与可执行建议。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01" y="4239876"/>
            <a:ext cx="5624903" cy="885663"/>
          </a:xfrm>
          <a:custGeom>
            <a:avLst/>
            <a:gdLst/>
            <a:ahLst/>
            <a:cxnLst/>
            <a:rect l="l" t="t" r="r" b="b"/>
            <a:pathLst>
              <a:path w="5624903" h="885663">
                <a:moveTo>
                  <a:pt x="37688" y="0"/>
                </a:moveTo>
                <a:lnTo>
                  <a:pt x="5549524" y="0"/>
                </a:lnTo>
                <a:cubicBezTo>
                  <a:pt x="5591154" y="0"/>
                  <a:pt x="5624903" y="33748"/>
                  <a:pt x="5624903" y="75379"/>
                </a:cubicBezTo>
                <a:lnTo>
                  <a:pt x="5624903" y="810284"/>
                </a:lnTo>
                <a:cubicBezTo>
                  <a:pt x="5624903" y="851915"/>
                  <a:pt x="5591154" y="885663"/>
                  <a:pt x="5549524" y="885663"/>
                </a:cubicBezTo>
                <a:lnTo>
                  <a:pt x="37688" y="885663"/>
                </a:lnTo>
                <a:cubicBezTo>
                  <a:pt x="16873" y="885663"/>
                  <a:pt x="0" y="868790"/>
                  <a:pt x="0" y="8479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47" name="Shape 45"/>
          <p:cNvSpPr/>
          <p:nvPr/>
        </p:nvSpPr>
        <p:spPr>
          <a:xfrm>
            <a:off x="6191201" y="4239876"/>
            <a:ext cx="37688" cy="885663"/>
          </a:xfrm>
          <a:custGeom>
            <a:avLst/>
            <a:gdLst/>
            <a:ahLst/>
            <a:cxnLst/>
            <a:rect l="l" t="t" r="r" b="b"/>
            <a:pathLst>
              <a:path w="37688" h="885663">
                <a:moveTo>
                  <a:pt x="37688" y="0"/>
                </a:moveTo>
                <a:lnTo>
                  <a:pt x="37688" y="0"/>
                </a:lnTo>
                <a:lnTo>
                  <a:pt x="37688" y="885663"/>
                </a:lnTo>
                <a:lnTo>
                  <a:pt x="37688" y="885663"/>
                </a:lnTo>
                <a:cubicBezTo>
                  <a:pt x="16873" y="885663"/>
                  <a:pt x="0" y="868790"/>
                  <a:pt x="0" y="847975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48" name="Text 46"/>
          <p:cNvSpPr/>
          <p:nvPr/>
        </p:nvSpPr>
        <p:spPr>
          <a:xfrm>
            <a:off x="6360796" y="4390628"/>
            <a:ext cx="538935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0" b="1" dirty="0">
                <a:solidFill>
                  <a:srgbClr val="FFFFFF"/>
                </a:solidFill>
                <a:highlight>
                  <a:srgbClr val="EBCB8B">
                    <a:alpha val="100000"/>
                  </a:srgbClr>
                </a:highlight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 </a:t>
            </a:r>
            <a:r>
              <a:rPr lang="en-US" sz="133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报告沉淀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60796" y="4729818"/>
            <a:ext cx="5379932" cy="2449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结果落库 + 存储到 MinIO/OSS，支持</a:t>
            </a:r>
            <a:r>
              <a:rPr lang="en-US" sz="1185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审计与复盘</a:t>
            </a:r>
            <a:r>
              <a:rPr lang="en-US" sz="118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，形成可交付的治理报告。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2357" y="5615481"/>
            <a:ext cx="5643747" cy="866819"/>
          </a:xfrm>
          <a:custGeom>
            <a:avLst/>
            <a:gdLst/>
            <a:ahLst/>
            <a:cxnLst/>
            <a:rect l="l" t="t" r="r" b="b"/>
            <a:pathLst>
              <a:path w="5643747" h="866819">
                <a:moveTo>
                  <a:pt x="75379" y="0"/>
                </a:moveTo>
                <a:lnTo>
                  <a:pt x="5568368" y="0"/>
                </a:lnTo>
                <a:cubicBezTo>
                  <a:pt x="5609998" y="0"/>
                  <a:pt x="5643747" y="33748"/>
                  <a:pt x="5643747" y="75379"/>
                </a:cubicBezTo>
                <a:lnTo>
                  <a:pt x="5643747" y="791441"/>
                </a:lnTo>
                <a:cubicBezTo>
                  <a:pt x="5643747" y="833071"/>
                  <a:pt x="5609998" y="866819"/>
                  <a:pt x="5568368" y="866819"/>
                </a:cubicBezTo>
                <a:lnTo>
                  <a:pt x="75379" y="866819"/>
                </a:lnTo>
                <a:cubicBezTo>
                  <a:pt x="33776" y="866819"/>
                  <a:pt x="0" y="833043"/>
                  <a:pt x="0" y="791441"/>
                </a:cubicBezTo>
                <a:lnTo>
                  <a:pt x="0" y="75379"/>
                </a:lnTo>
                <a:cubicBezTo>
                  <a:pt x="0" y="33776"/>
                  <a:pt x="33776" y="0"/>
                  <a:pt x="75379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51" name="Text 49"/>
          <p:cNvSpPr/>
          <p:nvPr/>
        </p:nvSpPr>
        <p:spPr>
          <a:xfrm>
            <a:off x="6280710" y="5766232"/>
            <a:ext cx="542704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完整闭环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85421" y="6105422"/>
            <a:ext cx="5417620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 → 指标 → 证据 → 建议 → 沉淀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342728" y="1909515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1975" y="123045"/>
                </a:moveTo>
                <a:cubicBezTo>
                  <a:pt x="227496" y="117524"/>
                  <a:pt x="227496" y="108559"/>
                  <a:pt x="221975" y="103038"/>
                </a:cubicBezTo>
                <a:lnTo>
                  <a:pt x="151311" y="32373"/>
                </a:lnTo>
                <a:cubicBezTo>
                  <a:pt x="145790" y="26853"/>
                  <a:pt x="136824" y="26853"/>
                  <a:pt x="131304" y="32373"/>
                </a:cubicBezTo>
                <a:cubicBezTo>
                  <a:pt x="125783" y="37894"/>
                  <a:pt x="125783" y="46859"/>
                  <a:pt x="131304" y="52380"/>
                </a:cubicBezTo>
                <a:lnTo>
                  <a:pt x="177854" y="98930"/>
                </a:lnTo>
                <a:lnTo>
                  <a:pt x="14133" y="98930"/>
                </a:lnTo>
                <a:cubicBezTo>
                  <a:pt x="6316" y="98930"/>
                  <a:pt x="0" y="105246"/>
                  <a:pt x="0" y="113063"/>
                </a:cubicBezTo>
                <a:cubicBezTo>
                  <a:pt x="0" y="120881"/>
                  <a:pt x="6316" y="127196"/>
                  <a:pt x="14133" y="127196"/>
                </a:cubicBezTo>
                <a:lnTo>
                  <a:pt x="177854" y="127196"/>
                </a:lnTo>
                <a:lnTo>
                  <a:pt x="131304" y="173747"/>
                </a:lnTo>
                <a:cubicBezTo>
                  <a:pt x="125783" y="179267"/>
                  <a:pt x="125783" y="188233"/>
                  <a:pt x="131304" y="193754"/>
                </a:cubicBezTo>
                <a:cubicBezTo>
                  <a:pt x="136824" y="199274"/>
                  <a:pt x="145790" y="199274"/>
                  <a:pt x="151311" y="193754"/>
                </a:cubicBezTo>
                <a:lnTo>
                  <a:pt x="221975" y="123089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4" name="Shape 52"/>
          <p:cNvSpPr/>
          <p:nvPr/>
        </p:nvSpPr>
        <p:spPr>
          <a:xfrm>
            <a:off x="4676034" y="1909515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1975" y="123045"/>
                </a:moveTo>
                <a:cubicBezTo>
                  <a:pt x="227496" y="117524"/>
                  <a:pt x="227496" y="108559"/>
                  <a:pt x="221975" y="103038"/>
                </a:cubicBezTo>
                <a:lnTo>
                  <a:pt x="151311" y="32373"/>
                </a:lnTo>
                <a:cubicBezTo>
                  <a:pt x="145790" y="26853"/>
                  <a:pt x="136824" y="26853"/>
                  <a:pt x="131304" y="32373"/>
                </a:cubicBezTo>
                <a:cubicBezTo>
                  <a:pt x="125783" y="37894"/>
                  <a:pt x="125783" y="46859"/>
                  <a:pt x="131304" y="52380"/>
                </a:cubicBezTo>
                <a:lnTo>
                  <a:pt x="177854" y="98930"/>
                </a:lnTo>
                <a:lnTo>
                  <a:pt x="14133" y="98930"/>
                </a:lnTo>
                <a:cubicBezTo>
                  <a:pt x="6316" y="98930"/>
                  <a:pt x="0" y="105246"/>
                  <a:pt x="0" y="113063"/>
                </a:cubicBezTo>
                <a:cubicBezTo>
                  <a:pt x="0" y="120881"/>
                  <a:pt x="6316" y="127196"/>
                  <a:pt x="14133" y="127196"/>
                </a:cubicBezTo>
                <a:lnTo>
                  <a:pt x="177854" y="127196"/>
                </a:lnTo>
                <a:lnTo>
                  <a:pt x="131304" y="173747"/>
                </a:lnTo>
                <a:cubicBezTo>
                  <a:pt x="125783" y="179267"/>
                  <a:pt x="125783" y="188233"/>
                  <a:pt x="131304" y="193754"/>
                </a:cubicBezTo>
                <a:cubicBezTo>
                  <a:pt x="136824" y="199274"/>
                  <a:pt x="145790" y="199274"/>
                  <a:pt x="151311" y="193754"/>
                </a:cubicBezTo>
                <a:lnTo>
                  <a:pt x="221975" y="123089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55" name="Shape 53"/>
          <p:cNvSpPr/>
          <p:nvPr/>
        </p:nvSpPr>
        <p:spPr>
          <a:xfrm>
            <a:off x="7009340" y="1909515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1975" y="123045"/>
                </a:moveTo>
                <a:cubicBezTo>
                  <a:pt x="227496" y="117524"/>
                  <a:pt x="227496" y="108559"/>
                  <a:pt x="221975" y="103038"/>
                </a:cubicBezTo>
                <a:lnTo>
                  <a:pt x="151311" y="32373"/>
                </a:lnTo>
                <a:cubicBezTo>
                  <a:pt x="145790" y="26853"/>
                  <a:pt x="136824" y="26853"/>
                  <a:pt x="131304" y="32373"/>
                </a:cubicBezTo>
                <a:cubicBezTo>
                  <a:pt x="125783" y="37894"/>
                  <a:pt x="125783" y="46859"/>
                  <a:pt x="131304" y="52380"/>
                </a:cubicBezTo>
                <a:lnTo>
                  <a:pt x="177854" y="98930"/>
                </a:lnTo>
                <a:lnTo>
                  <a:pt x="14133" y="98930"/>
                </a:lnTo>
                <a:cubicBezTo>
                  <a:pt x="6316" y="98930"/>
                  <a:pt x="0" y="105246"/>
                  <a:pt x="0" y="113063"/>
                </a:cubicBezTo>
                <a:cubicBezTo>
                  <a:pt x="0" y="120881"/>
                  <a:pt x="6316" y="127196"/>
                  <a:pt x="14133" y="127196"/>
                </a:cubicBezTo>
                <a:lnTo>
                  <a:pt x="177854" y="127196"/>
                </a:lnTo>
                <a:lnTo>
                  <a:pt x="131304" y="173747"/>
                </a:lnTo>
                <a:cubicBezTo>
                  <a:pt x="125783" y="179267"/>
                  <a:pt x="125783" y="188233"/>
                  <a:pt x="131304" y="193754"/>
                </a:cubicBezTo>
                <a:cubicBezTo>
                  <a:pt x="136824" y="199274"/>
                  <a:pt x="145790" y="199274"/>
                  <a:pt x="151311" y="193754"/>
                </a:cubicBezTo>
                <a:lnTo>
                  <a:pt x="221975" y="123089"/>
                </a:lnTo>
                <a:close/>
              </a:path>
            </a:pathLst>
          </a:custGeom>
          <a:solidFill>
            <a:srgbClr val="B48EAD"/>
          </a:solidFill>
        </p:spPr>
      </p:sp>
      <p:sp>
        <p:nvSpPr>
          <p:cNvPr id="56" name="Shape 54"/>
          <p:cNvSpPr/>
          <p:nvPr/>
        </p:nvSpPr>
        <p:spPr>
          <a:xfrm>
            <a:off x="9342646" y="1909515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21975" y="123045"/>
                </a:moveTo>
                <a:cubicBezTo>
                  <a:pt x="227496" y="117524"/>
                  <a:pt x="227496" y="108559"/>
                  <a:pt x="221975" y="103038"/>
                </a:cubicBezTo>
                <a:lnTo>
                  <a:pt x="151311" y="32373"/>
                </a:lnTo>
                <a:cubicBezTo>
                  <a:pt x="145790" y="26853"/>
                  <a:pt x="136824" y="26853"/>
                  <a:pt x="131304" y="32373"/>
                </a:cubicBezTo>
                <a:cubicBezTo>
                  <a:pt x="125783" y="37894"/>
                  <a:pt x="125783" y="46859"/>
                  <a:pt x="131304" y="52380"/>
                </a:cubicBezTo>
                <a:lnTo>
                  <a:pt x="177854" y="98930"/>
                </a:lnTo>
                <a:lnTo>
                  <a:pt x="14133" y="98930"/>
                </a:lnTo>
                <a:cubicBezTo>
                  <a:pt x="6316" y="98930"/>
                  <a:pt x="0" y="105246"/>
                  <a:pt x="0" y="113063"/>
                </a:cubicBezTo>
                <a:cubicBezTo>
                  <a:pt x="0" y="120881"/>
                  <a:pt x="6316" y="127196"/>
                  <a:pt x="14133" y="127196"/>
                </a:cubicBezTo>
                <a:lnTo>
                  <a:pt x="177854" y="127196"/>
                </a:lnTo>
                <a:lnTo>
                  <a:pt x="131304" y="173747"/>
                </a:lnTo>
                <a:cubicBezTo>
                  <a:pt x="125783" y="179267"/>
                  <a:pt x="125783" y="188233"/>
                  <a:pt x="131304" y="193754"/>
                </a:cubicBezTo>
                <a:cubicBezTo>
                  <a:pt x="136824" y="199274"/>
                  <a:pt x="145790" y="199274"/>
                  <a:pt x="151311" y="193754"/>
                </a:cubicBezTo>
                <a:lnTo>
                  <a:pt x="221975" y="123089"/>
                </a:lnTo>
                <a:close/>
              </a:path>
            </a:pathLst>
          </a:custGeom>
          <a:solidFill>
            <a:srgbClr val="A3BE8C"/>
          </a:solid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OpenDigger: 治理指标体系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量化洞察社区健康度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381000" y="1371600"/>
            <a:ext cx="3705225" cy="3924300"/>
          </a:xfrm>
          <a:custGeom>
            <a:avLst/>
            <a:gdLst/>
            <a:ahLst/>
            <a:cxnLst/>
            <a:rect l="l" t="t" r="r" b="b"/>
            <a:pathLst>
              <a:path w="3705225" h="39243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848084"/>
                </a:lnTo>
                <a:cubicBezTo>
                  <a:pt x="3705225" y="3890177"/>
                  <a:pt x="3671102" y="3924300"/>
                  <a:pt x="3629009" y="3924300"/>
                </a:cubicBezTo>
                <a:lnTo>
                  <a:pt x="76216" y="3924300"/>
                </a:lnTo>
                <a:cubicBezTo>
                  <a:pt x="34123" y="3924300"/>
                  <a:pt x="0" y="3890177"/>
                  <a:pt x="0" y="38480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6" name="Shape 4"/>
          <p:cNvSpPr/>
          <p:nvPr/>
        </p:nvSpPr>
        <p:spPr>
          <a:xfrm>
            <a:off x="5334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" name="Shape 5"/>
          <p:cNvSpPr/>
          <p:nvPr/>
        </p:nvSpPr>
        <p:spPr>
          <a:xfrm>
            <a:off x="647700" y="163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2691" y="81260"/>
                </a:moveTo>
                <a:cubicBezTo>
                  <a:pt x="105489" y="78462"/>
                  <a:pt x="105489" y="73938"/>
                  <a:pt x="102691" y="71170"/>
                </a:cubicBezTo>
                <a:lnTo>
                  <a:pt x="59829" y="28277"/>
                </a:lnTo>
                <a:cubicBezTo>
                  <a:pt x="57775" y="26224"/>
                  <a:pt x="54709" y="25628"/>
                  <a:pt x="52030" y="26730"/>
                </a:cubicBezTo>
                <a:cubicBezTo>
                  <a:pt x="49351" y="27831"/>
                  <a:pt x="47625" y="30450"/>
                  <a:pt x="47625" y="33338"/>
                </a:cubicBezTo>
                <a:lnTo>
                  <a:pt x="47625" y="57150"/>
                </a:ln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80962"/>
                </a:lnTo>
                <a:cubicBezTo>
                  <a:pt x="0" y="88850"/>
                  <a:pt x="6400" y="95250"/>
                  <a:pt x="14288" y="95250"/>
                </a:cubicBezTo>
                <a:lnTo>
                  <a:pt x="47625" y="95250"/>
                </a:lnTo>
                <a:lnTo>
                  <a:pt x="47625" y="119062"/>
                </a:lnTo>
                <a:cubicBezTo>
                  <a:pt x="47625" y="121950"/>
                  <a:pt x="49351" y="124569"/>
                  <a:pt x="52030" y="125670"/>
                </a:cubicBezTo>
                <a:cubicBezTo>
                  <a:pt x="54709" y="126772"/>
                  <a:pt x="57775" y="126176"/>
                  <a:pt x="59829" y="124123"/>
                </a:cubicBezTo>
                <a:lnTo>
                  <a:pt x="102691" y="81260"/>
                </a:lnTo>
                <a:close/>
                <a:moveTo>
                  <a:pt x="104775" y="123825"/>
                </a:moveTo>
                <a:cubicBezTo>
                  <a:pt x="99506" y="123825"/>
                  <a:pt x="95250" y="128081"/>
                  <a:pt x="95250" y="133350"/>
                </a:cubicBezTo>
                <a:cubicBezTo>
                  <a:pt x="95250" y="138619"/>
                  <a:pt x="99506" y="142875"/>
                  <a:pt x="104775" y="142875"/>
                </a:cubicBezTo>
                <a:lnTo>
                  <a:pt x="123825" y="142875"/>
                </a:lnTo>
                <a:cubicBezTo>
                  <a:pt x="139601" y="142875"/>
                  <a:pt x="152400" y="130076"/>
                  <a:pt x="152400" y="114300"/>
                </a:cubicBezTo>
                <a:lnTo>
                  <a:pt x="152400" y="38100"/>
                </a:lnTo>
                <a:cubicBezTo>
                  <a:pt x="152400" y="22324"/>
                  <a:pt x="139601" y="9525"/>
                  <a:pt x="123825" y="9525"/>
                </a:cubicBezTo>
                <a:lnTo>
                  <a:pt x="104775" y="9525"/>
                </a:lnTo>
                <a:cubicBezTo>
                  <a:pt x="99506" y="9525"/>
                  <a:pt x="95250" y="13781"/>
                  <a:pt x="95250" y="19050"/>
                </a:cubicBezTo>
                <a:cubicBezTo>
                  <a:pt x="95250" y="24319"/>
                  <a:pt x="99506" y="28575"/>
                  <a:pt x="104775" y="28575"/>
                </a:cubicBez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114300"/>
                </a:lnTo>
                <a:cubicBezTo>
                  <a:pt x="133350" y="119569"/>
                  <a:pt x="129094" y="123825"/>
                  <a:pt x="123825" y="123825"/>
                </a:cubicBezTo>
                <a:lnTo>
                  <a:pt x="104775" y="1238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90600" y="15811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指标输入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0193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 平台事件/贡献数据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3622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638175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850" y="70277"/>
                </a:moveTo>
                <a:lnTo>
                  <a:pt x="72628" y="12055"/>
                </a:lnTo>
                <a:cubicBezTo>
                  <a:pt x="71021" y="10418"/>
                  <a:pt x="68818" y="9525"/>
                  <a:pt x="66556" y="9525"/>
                </a:cubicBezTo>
                <a:cubicBezTo>
                  <a:pt x="64294" y="9525"/>
                  <a:pt x="62091" y="10418"/>
                  <a:pt x="60484" y="12025"/>
                </a:cubicBezTo>
                <a:lnTo>
                  <a:pt x="48369" y="24110"/>
                </a:lnTo>
                <a:lnTo>
                  <a:pt x="63698" y="39439"/>
                </a:lnTo>
                <a:cubicBezTo>
                  <a:pt x="71765" y="36731"/>
                  <a:pt x="79385" y="44440"/>
                  <a:pt x="76617" y="52447"/>
                </a:cubicBezTo>
                <a:lnTo>
                  <a:pt x="91410" y="67241"/>
                </a:lnTo>
                <a:cubicBezTo>
                  <a:pt x="101590" y="63728"/>
                  <a:pt x="109627" y="76468"/>
                  <a:pt x="101977" y="84118"/>
                </a:cubicBezTo>
                <a:cubicBezTo>
                  <a:pt x="94089" y="92006"/>
                  <a:pt x="81082" y="83254"/>
                  <a:pt x="85308" y="73015"/>
                </a:cubicBezTo>
                <a:lnTo>
                  <a:pt x="71527" y="59234"/>
                </a:lnTo>
                <a:lnTo>
                  <a:pt x="71527" y="95518"/>
                </a:lnTo>
                <a:cubicBezTo>
                  <a:pt x="79057" y="99239"/>
                  <a:pt x="78165" y="107960"/>
                  <a:pt x="74235" y="111889"/>
                </a:cubicBezTo>
                <a:cubicBezTo>
                  <a:pt x="72330" y="113794"/>
                  <a:pt x="69711" y="114895"/>
                  <a:pt x="67002" y="114895"/>
                </a:cubicBezTo>
                <a:cubicBezTo>
                  <a:pt x="64294" y="114895"/>
                  <a:pt x="61704" y="113824"/>
                  <a:pt x="59769" y="111889"/>
                </a:cubicBezTo>
                <a:cubicBezTo>
                  <a:pt x="54531" y="106650"/>
                  <a:pt x="56465" y="97929"/>
                  <a:pt x="63103" y="95220"/>
                </a:cubicBezTo>
                <a:lnTo>
                  <a:pt x="63103" y="58609"/>
                </a:lnTo>
                <a:cubicBezTo>
                  <a:pt x="56912" y="56078"/>
                  <a:pt x="55781" y="49470"/>
                  <a:pt x="57567" y="45214"/>
                </a:cubicBezTo>
                <a:lnTo>
                  <a:pt x="42446" y="30063"/>
                </a:lnTo>
                <a:lnTo>
                  <a:pt x="2530" y="69979"/>
                </a:lnTo>
                <a:cubicBezTo>
                  <a:pt x="893" y="71616"/>
                  <a:pt x="0" y="73789"/>
                  <a:pt x="0" y="76051"/>
                </a:cubicBezTo>
                <a:cubicBezTo>
                  <a:pt x="0" y="78313"/>
                  <a:pt x="893" y="80516"/>
                  <a:pt x="2530" y="82123"/>
                </a:cubicBezTo>
                <a:lnTo>
                  <a:pt x="60752" y="140375"/>
                </a:lnTo>
                <a:cubicBezTo>
                  <a:pt x="62359" y="141982"/>
                  <a:pt x="64532" y="142875"/>
                  <a:pt x="66824" y="142875"/>
                </a:cubicBezTo>
                <a:cubicBezTo>
                  <a:pt x="69116" y="142875"/>
                  <a:pt x="71289" y="141982"/>
                  <a:pt x="72896" y="140375"/>
                </a:cubicBezTo>
                <a:lnTo>
                  <a:pt x="130850" y="82421"/>
                </a:lnTo>
                <a:cubicBezTo>
                  <a:pt x="132457" y="80814"/>
                  <a:pt x="133350" y="78611"/>
                  <a:pt x="133350" y="76349"/>
                </a:cubicBezTo>
                <a:cubicBezTo>
                  <a:pt x="133350" y="74087"/>
                  <a:pt x="132457" y="71884"/>
                  <a:pt x="130850" y="70277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2" name="Text 10"/>
          <p:cNvSpPr/>
          <p:nvPr/>
        </p:nvSpPr>
        <p:spPr>
          <a:xfrm>
            <a:off x="876300" y="2438400"/>
            <a:ext cx="1181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提交 (Commits)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8194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638175" y="2933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3813" y="30956"/>
                </a:moveTo>
                <a:cubicBezTo>
                  <a:pt x="27755" y="30956"/>
                  <a:pt x="30956" y="27755"/>
                  <a:pt x="30956" y="23813"/>
                </a:cubicBezTo>
                <a:cubicBezTo>
                  <a:pt x="30956" y="19870"/>
                  <a:pt x="27755" y="16669"/>
                  <a:pt x="23813" y="16669"/>
                </a:cubicBezTo>
                <a:cubicBezTo>
                  <a:pt x="19870" y="16669"/>
                  <a:pt x="16669" y="19870"/>
                  <a:pt x="16669" y="23813"/>
                </a:cubicBezTo>
                <a:cubicBezTo>
                  <a:pt x="16669" y="27755"/>
                  <a:pt x="19870" y="30956"/>
                  <a:pt x="23813" y="30956"/>
                </a:cubicBezTo>
                <a:close/>
                <a:moveTo>
                  <a:pt x="47625" y="23813"/>
                </a:moveTo>
                <a:cubicBezTo>
                  <a:pt x="47625" y="33576"/>
                  <a:pt x="41761" y="41970"/>
                  <a:pt x="33338" y="45631"/>
                </a:cubicBezTo>
                <a:lnTo>
                  <a:pt x="33338" y="66675"/>
                </a:lnTo>
                <a:lnTo>
                  <a:pt x="85725" y="66675"/>
                </a:lnTo>
                <a:cubicBezTo>
                  <a:pt x="93613" y="66675"/>
                  <a:pt x="100013" y="60275"/>
                  <a:pt x="100013" y="52388"/>
                </a:cubicBezTo>
                <a:lnTo>
                  <a:pt x="100013" y="45631"/>
                </a:lnTo>
                <a:cubicBezTo>
                  <a:pt x="91589" y="41970"/>
                  <a:pt x="85725" y="33576"/>
                  <a:pt x="85725" y="23813"/>
                </a:cubicBezTo>
                <a:cubicBezTo>
                  <a:pt x="85725" y="10656"/>
                  <a:pt x="96381" y="0"/>
                  <a:pt x="109537" y="0"/>
                </a:cubicBezTo>
                <a:cubicBezTo>
                  <a:pt x="122694" y="0"/>
                  <a:pt x="133350" y="10656"/>
                  <a:pt x="133350" y="23813"/>
                </a:cubicBezTo>
                <a:cubicBezTo>
                  <a:pt x="133350" y="33576"/>
                  <a:pt x="127486" y="41970"/>
                  <a:pt x="119062" y="45631"/>
                </a:cubicBezTo>
                <a:lnTo>
                  <a:pt x="119062" y="52388"/>
                </a:lnTo>
                <a:cubicBezTo>
                  <a:pt x="119062" y="70812"/>
                  <a:pt x="104150" y="85725"/>
                  <a:pt x="85725" y="85725"/>
                </a:cubicBezTo>
                <a:lnTo>
                  <a:pt x="33338" y="85725"/>
                </a:lnTo>
                <a:lnTo>
                  <a:pt x="33338" y="106769"/>
                </a:lnTo>
                <a:cubicBezTo>
                  <a:pt x="41761" y="110430"/>
                  <a:pt x="47625" y="118824"/>
                  <a:pt x="47625" y="128588"/>
                </a:cubicBezTo>
                <a:cubicBezTo>
                  <a:pt x="47625" y="141744"/>
                  <a:pt x="36969" y="152400"/>
                  <a:pt x="23813" y="152400"/>
                </a:cubicBezTo>
                <a:cubicBezTo>
                  <a:pt x="10656" y="152400"/>
                  <a:pt x="0" y="141744"/>
                  <a:pt x="0" y="128588"/>
                </a:cubicBezTo>
                <a:cubicBezTo>
                  <a:pt x="0" y="118824"/>
                  <a:pt x="5864" y="110430"/>
                  <a:pt x="14288" y="106769"/>
                </a:cubicBezTo>
                <a:lnTo>
                  <a:pt x="14288" y="45660"/>
                </a:lnTo>
                <a:cubicBezTo>
                  <a:pt x="5864" y="41970"/>
                  <a:pt x="0" y="33576"/>
                  <a:pt x="0" y="23813"/>
                </a:cubicBezTo>
                <a:cubicBezTo>
                  <a:pt x="0" y="10656"/>
                  <a:pt x="10656" y="0"/>
                  <a:pt x="23813" y="0"/>
                </a:cubicBezTo>
                <a:cubicBezTo>
                  <a:pt x="36969" y="0"/>
                  <a:pt x="47625" y="10656"/>
                  <a:pt x="47625" y="23813"/>
                </a:cubicBezTo>
                <a:close/>
                <a:moveTo>
                  <a:pt x="116681" y="23813"/>
                </a:moveTo>
                <a:cubicBezTo>
                  <a:pt x="116681" y="19870"/>
                  <a:pt x="113480" y="16669"/>
                  <a:pt x="109537" y="16669"/>
                </a:cubicBezTo>
                <a:cubicBezTo>
                  <a:pt x="105595" y="16669"/>
                  <a:pt x="102394" y="19870"/>
                  <a:pt x="102394" y="23813"/>
                </a:cubicBezTo>
                <a:cubicBezTo>
                  <a:pt x="102394" y="27755"/>
                  <a:pt x="105595" y="30956"/>
                  <a:pt x="109537" y="30956"/>
                </a:cubicBezTo>
                <a:cubicBezTo>
                  <a:pt x="113480" y="30956"/>
                  <a:pt x="116681" y="27755"/>
                  <a:pt x="116681" y="23813"/>
                </a:cubicBezTo>
                <a:close/>
                <a:moveTo>
                  <a:pt x="23813" y="135731"/>
                </a:moveTo>
                <a:cubicBezTo>
                  <a:pt x="27755" y="135731"/>
                  <a:pt x="30956" y="132530"/>
                  <a:pt x="30956" y="128588"/>
                </a:cubicBezTo>
                <a:cubicBezTo>
                  <a:pt x="30956" y="124645"/>
                  <a:pt x="27755" y="121444"/>
                  <a:pt x="23813" y="121444"/>
                </a:cubicBezTo>
                <a:cubicBezTo>
                  <a:pt x="19870" y="121444"/>
                  <a:pt x="16669" y="124645"/>
                  <a:pt x="16669" y="128588"/>
                </a:cubicBezTo>
                <a:cubicBezTo>
                  <a:pt x="16669" y="132530"/>
                  <a:pt x="19870" y="135731"/>
                  <a:pt x="23813" y="135731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5" name="Text 13"/>
          <p:cNvSpPr/>
          <p:nvPr/>
        </p:nvSpPr>
        <p:spPr>
          <a:xfrm>
            <a:off x="876300" y="2895600"/>
            <a:ext cx="139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 (Pull Requests)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2766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6286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8" name="Text 16"/>
          <p:cNvSpPr/>
          <p:nvPr/>
        </p:nvSpPr>
        <p:spPr>
          <a:xfrm>
            <a:off x="876300" y="3352800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Issue (问题)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37338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619125" y="38481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1" name="Text 19"/>
          <p:cNvSpPr/>
          <p:nvPr/>
        </p:nvSpPr>
        <p:spPr>
          <a:xfrm>
            <a:off x="876300" y="3810000"/>
            <a:ext cx="1343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Review (代码审查)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41910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628650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674" y="28575"/>
                </a:moveTo>
                <a:lnTo>
                  <a:pt x="9674" y="73075"/>
                </a:lnTo>
                <a:cubicBezTo>
                  <a:pt x="9674" y="78135"/>
                  <a:pt x="11668" y="82987"/>
                  <a:pt x="15240" y="86558"/>
                </a:cubicBezTo>
                <a:lnTo>
                  <a:pt x="72390" y="143708"/>
                </a:lnTo>
                <a:cubicBezTo>
                  <a:pt x="79831" y="151150"/>
                  <a:pt x="91886" y="151150"/>
                  <a:pt x="99328" y="143708"/>
                </a:cubicBezTo>
                <a:lnTo>
                  <a:pt x="143828" y="99209"/>
                </a:lnTo>
                <a:cubicBezTo>
                  <a:pt x="151269" y="91767"/>
                  <a:pt x="151269" y="79712"/>
                  <a:pt x="143828" y="72271"/>
                </a:cubicBezTo>
                <a:lnTo>
                  <a:pt x="86678" y="15121"/>
                </a:lnTo>
                <a:cubicBezTo>
                  <a:pt x="83106" y="11519"/>
                  <a:pt x="78284" y="9525"/>
                  <a:pt x="73223" y="9525"/>
                </a:cubicBezTo>
                <a:lnTo>
                  <a:pt x="28724" y="9525"/>
                </a:lnTo>
                <a:cubicBezTo>
                  <a:pt x="18217" y="9525"/>
                  <a:pt x="9674" y="18068"/>
                  <a:pt x="9674" y="28575"/>
                </a:cubicBezTo>
                <a:close/>
                <a:moveTo>
                  <a:pt x="43011" y="33338"/>
                </a:moveTo>
                <a:cubicBezTo>
                  <a:pt x="48268" y="33338"/>
                  <a:pt x="52536" y="37606"/>
                  <a:pt x="52536" y="42863"/>
                </a:cubicBezTo>
                <a:cubicBezTo>
                  <a:pt x="52536" y="48119"/>
                  <a:pt x="48268" y="52388"/>
                  <a:pt x="43011" y="52388"/>
                </a:cubicBezTo>
                <a:cubicBezTo>
                  <a:pt x="37754" y="52388"/>
                  <a:pt x="33486" y="48119"/>
                  <a:pt x="33486" y="42863"/>
                </a:cubicBezTo>
                <a:cubicBezTo>
                  <a:pt x="33486" y="37606"/>
                  <a:pt x="37754" y="33338"/>
                  <a:pt x="43011" y="33338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24" name="Text 22"/>
          <p:cNvSpPr/>
          <p:nvPr/>
        </p:nvSpPr>
        <p:spPr>
          <a:xfrm>
            <a:off x="876300" y="4267200"/>
            <a:ext cx="1085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Release (发布)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1800" y="1371600"/>
            <a:ext cx="3705225" cy="3924300"/>
          </a:xfrm>
          <a:custGeom>
            <a:avLst/>
            <a:gdLst/>
            <a:ahLst/>
            <a:cxnLst/>
            <a:rect l="l" t="t" r="r" b="b"/>
            <a:pathLst>
              <a:path w="3705225" h="39243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848084"/>
                </a:lnTo>
                <a:cubicBezTo>
                  <a:pt x="3705225" y="3890177"/>
                  <a:pt x="3671102" y="3924300"/>
                  <a:pt x="3629009" y="3924300"/>
                </a:cubicBezTo>
                <a:lnTo>
                  <a:pt x="76216" y="3924300"/>
                </a:lnTo>
                <a:cubicBezTo>
                  <a:pt x="34123" y="3924300"/>
                  <a:pt x="0" y="3890177"/>
                  <a:pt x="0" y="38480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26" name="Shape 24"/>
          <p:cNvSpPr/>
          <p:nvPr/>
        </p:nvSpPr>
        <p:spPr>
          <a:xfrm>
            <a:off x="43942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7" name="Shape 25"/>
          <p:cNvSpPr/>
          <p:nvPr/>
        </p:nvSpPr>
        <p:spPr>
          <a:xfrm>
            <a:off x="4498975" y="1638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4851400" y="158115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核心指标输出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4200" y="20574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4252"/>
          </a:solidFill>
        </p:spPr>
      </p:sp>
      <p:sp>
        <p:nvSpPr>
          <p:cNvPr id="30" name="Text 28"/>
          <p:cNvSpPr/>
          <p:nvPr/>
        </p:nvSpPr>
        <p:spPr>
          <a:xfrm>
            <a:off x="4508500" y="21717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活跃度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08500" y="2438400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PR/Issue/Commit 趋势分析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4200" y="28575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4252"/>
          </a:solidFill>
        </p:spPr>
      </p:sp>
      <p:sp>
        <p:nvSpPr>
          <p:cNvPr id="33" name="Text 31"/>
          <p:cNvSpPr/>
          <p:nvPr/>
        </p:nvSpPr>
        <p:spPr>
          <a:xfrm>
            <a:off x="4508500" y="29718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贡献结构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8500" y="3238500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核心/长尾贡献者占比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4200" y="36576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4252"/>
          </a:solidFill>
        </p:spPr>
      </p:sp>
      <p:sp>
        <p:nvSpPr>
          <p:cNvPr id="36" name="Text 34"/>
          <p:cNvSpPr/>
          <p:nvPr/>
        </p:nvSpPr>
        <p:spPr>
          <a:xfrm>
            <a:off x="4508500" y="37719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风险评估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08500" y="4038600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权限集中、Bus Factor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4200" y="4457700"/>
            <a:ext cx="3400425" cy="685800"/>
          </a:xfrm>
          <a:custGeom>
            <a:avLst/>
            <a:gdLst/>
            <a:ahLst/>
            <a:cxnLst/>
            <a:rect l="l" t="t" r="r" b="b"/>
            <a:pathLst>
              <a:path w="3400425" h="6858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609601"/>
                </a:lnTo>
                <a:cubicBezTo>
                  <a:pt x="3400425" y="651684"/>
                  <a:pt x="3366309" y="685800"/>
                  <a:pt x="33242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4252"/>
          </a:solidFill>
        </p:spPr>
      </p:sp>
      <p:sp>
        <p:nvSpPr>
          <p:cNvPr id="39" name="Text 37"/>
          <p:cNvSpPr/>
          <p:nvPr/>
        </p:nvSpPr>
        <p:spPr>
          <a:xfrm>
            <a:off x="4508500" y="45720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影响力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08500" y="4838700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OpenRank 衍生指标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2600" y="1371600"/>
            <a:ext cx="3705225" cy="2324100"/>
          </a:xfrm>
          <a:custGeom>
            <a:avLst/>
            <a:gdLst/>
            <a:ahLst/>
            <a:cxnLst/>
            <a:rect l="l" t="t" r="r" b="b"/>
            <a:pathLst>
              <a:path w="3705225" h="2324100">
                <a:moveTo>
                  <a:pt x="76207" y="0"/>
                </a:moveTo>
                <a:lnTo>
                  <a:pt x="3629018" y="0"/>
                </a:lnTo>
                <a:cubicBezTo>
                  <a:pt x="3671106" y="0"/>
                  <a:pt x="3705225" y="34119"/>
                  <a:pt x="3705225" y="76207"/>
                </a:cubicBezTo>
                <a:lnTo>
                  <a:pt x="3705225" y="2247893"/>
                </a:lnTo>
                <a:cubicBezTo>
                  <a:pt x="3705225" y="2289981"/>
                  <a:pt x="3671106" y="2324100"/>
                  <a:pt x="3629018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42" name="Shape 40"/>
          <p:cNvSpPr/>
          <p:nvPr/>
        </p:nvSpPr>
        <p:spPr>
          <a:xfrm>
            <a:off x="82550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3" name="Shape 41"/>
          <p:cNvSpPr/>
          <p:nvPr/>
        </p:nvSpPr>
        <p:spPr>
          <a:xfrm>
            <a:off x="8369300" y="163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0316" y="81260"/>
                </a:moveTo>
                <a:cubicBezTo>
                  <a:pt x="153114" y="78462"/>
                  <a:pt x="153114" y="73938"/>
                  <a:pt x="150316" y="71170"/>
                </a:cubicBezTo>
                <a:lnTo>
                  <a:pt x="107454" y="28277"/>
                </a:lnTo>
                <a:cubicBezTo>
                  <a:pt x="105400" y="26224"/>
                  <a:pt x="102334" y="25628"/>
                  <a:pt x="99655" y="26730"/>
                </a:cubicBezTo>
                <a:cubicBezTo>
                  <a:pt x="96976" y="27831"/>
                  <a:pt x="95250" y="30450"/>
                  <a:pt x="95250" y="33338"/>
                </a:cubicBezTo>
                <a:lnTo>
                  <a:pt x="95250" y="57150"/>
                </a:lnTo>
                <a:lnTo>
                  <a:pt x="61912" y="57150"/>
                </a:lnTo>
                <a:cubicBezTo>
                  <a:pt x="54025" y="57150"/>
                  <a:pt x="47625" y="63550"/>
                  <a:pt x="47625" y="71438"/>
                </a:cubicBezTo>
                <a:lnTo>
                  <a:pt x="47625" y="80962"/>
                </a:lnTo>
                <a:cubicBezTo>
                  <a:pt x="47625" y="88850"/>
                  <a:pt x="54025" y="95250"/>
                  <a:pt x="61912" y="95250"/>
                </a:cubicBezTo>
                <a:lnTo>
                  <a:pt x="95250" y="95250"/>
                </a:lnTo>
                <a:lnTo>
                  <a:pt x="95250" y="119062"/>
                </a:lnTo>
                <a:cubicBezTo>
                  <a:pt x="95250" y="121950"/>
                  <a:pt x="96976" y="124569"/>
                  <a:pt x="99655" y="125670"/>
                </a:cubicBezTo>
                <a:cubicBezTo>
                  <a:pt x="102334" y="126772"/>
                  <a:pt x="105400" y="126176"/>
                  <a:pt x="107454" y="124123"/>
                </a:cubicBezTo>
                <a:lnTo>
                  <a:pt x="150316" y="81260"/>
                </a:lnTo>
                <a:close/>
                <a:moveTo>
                  <a:pt x="47625" y="28575"/>
                </a:moveTo>
                <a:cubicBezTo>
                  <a:pt x="52894" y="28575"/>
                  <a:pt x="57150" y="24319"/>
                  <a:pt x="57150" y="19050"/>
                </a:cubicBezTo>
                <a:cubicBezTo>
                  <a:pt x="57150" y="13781"/>
                  <a:pt x="52894" y="9525"/>
                  <a:pt x="47625" y="9525"/>
                </a:cubicBezTo>
                <a:lnTo>
                  <a:pt x="28575" y="9525"/>
                </a:lnTo>
                <a:cubicBezTo>
                  <a:pt x="12799" y="9525"/>
                  <a:pt x="0" y="22324"/>
                  <a:pt x="0" y="38100"/>
                </a:cubicBezTo>
                <a:lnTo>
                  <a:pt x="0" y="114300"/>
                </a:lnTo>
                <a:cubicBezTo>
                  <a:pt x="0" y="130076"/>
                  <a:pt x="12799" y="142875"/>
                  <a:pt x="28575" y="142875"/>
                </a:cubicBezTo>
                <a:lnTo>
                  <a:pt x="47625" y="142875"/>
                </a:lnTo>
                <a:cubicBezTo>
                  <a:pt x="52894" y="142875"/>
                  <a:pt x="57150" y="138619"/>
                  <a:pt x="57150" y="133350"/>
                </a:cubicBezTo>
                <a:cubicBezTo>
                  <a:pt x="57150" y="128081"/>
                  <a:pt x="52894" y="123825"/>
                  <a:pt x="47625" y="123825"/>
                </a:cubicBezTo>
                <a:lnTo>
                  <a:pt x="28575" y="123825"/>
                </a:lnTo>
                <a:cubicBezTo>
                  <a:pt x="23306" y="123825"/>
                  <a:pt x="19050" y="119569"/>
                  <a:pt x="19050" y="114300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lnTo>
                  <a:pt x="47625" y="285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8712200" y="15811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指标输出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5000" y="20193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项目健康度画像与趋势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55000" y="2362200"/>
            <a:ext cx="3400425" cy="1181100"/>
          </a:xfrm>
          <a:custGeom>
            <a:avLst/>
            <a:gdLst/>
            <a:ahLst/>
            <a:cxnLst/>
            <a:rect l="l" t="t" r="r" b="b"/>
            <a:pathLst>
              <a:path w="3400425" h="1181100">
                <a:moveTo>
                  <a:pt x="76205" y="0"/>
                </a:moveTo>
                <a:lnTo>
                  <a:pt x="3324220" y="0"/>
                </a:lnTo>
                <a:cubicBezTo>
                  <a:pt x="3366279" y="0"/>
                  <a:pt x="3400425" y="34146"/>
                  <a:pt x="3400425" y="76205"/>
                </a:cubicBezTo>
                <a:lnTo>
                  <a:pt x="3400425" y="1104895"/>
                </a:lnTo>
                <a:cubicBezTo>
                  <a:pt x="3400425" y="1146982"/>
                  <a:pt x="3366307" y="1181100"/>
                  <a:pt x="33242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8369300" y="24765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健康度评估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69300" y="283845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38100" y="0"/>
                </a:moveTo>
                <a:lnTo>
                  <a:pt x="571500" y="0"/>
                </a:lnTo>
                <a:cubicBezTo>
                  <a:pt x="592528" y="0"/>
                  <a:pt x="609600" y="17072"/>
                  <a:pt x="609600" y="38100"/>
                </a:cubicBezTo>
                <a:lnTo>
                  <a:pt x="609600" y="38100"/>
                </a:lnTo>
                <a:cubicBezTo>
                  <a:pt x="609600" y="59128"/>
                  <a:pt x="592528" y="76200"/>
                  <a:pt x="571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9" name="Text 47"/>
          <p:cNvSpPr/>
          <p:nvPr/>
        </p:nvSpPr>
        <p:spPr>
          <a:xfrm>
            <a:off x="9055100" y="2781300"/>
            <a:ext cx="809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活跃度: 85%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69300" y="306705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" y="0"/>
                </a:moveTo>
                <a:lnTo>
                  <a:pt x="419100" y="0"/>
                </a:lnTo>
                <a:cubicBezTo>
                  <a:pt x="440128" y="0"/>
                  <a:pt x="457200" y="17072"/>
                  <a:pt x="457200" y="38100"/>
                </a:cubicBezTo>
                <a:lnTo>
                  <a:pt x="457200" y="38100"/>
                </a:lnTo>
                <a:cubicBezTo>
                  <a:pt x="457200" y="59128"/>
                  <a:pt x="440128" y="76200"/>
                  <a:pt x="419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51" name="Text 49"/>
          <p:cNvSpPr/>
          <p:nvPr/>
        </p:nvSpPr>
        <p:spPr>
          <a:xfrm>
            <a:off x="8902700" y="3009900"/>
            <a:ext cx="809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多样性: 62%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69300" y="329565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38100"/>
                </a:lnTo>
                <a:cubicBezTo>
                  <a:pt x="304800" y="59128"/>
                  <a:pt x="287728" y="76200"/>
                  <a:pt x="26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53" name="Text 51"/>
          <p:cNvSpPr/>
          <p:nvPr/>
        </p:nvSpPr>
        <p:spPr>
          <a:xfrm>
            <a:off x="8750300" y="3238500"/>
            <a:ext cx="809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稳定性: 45%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02600" y="3810000"/>
            <a:ext cx="3705225" cy="1295400"/>
          </a:xfrm>
          <a:custGeom>
            <a:avLst/>
            <a:gdLst/>
            <a:ahLst/>
            <a:cxnLst/>
            <a:rect l="l" t="t" r="r" b="b"/>
            <a:pathLst>
              <a:path w="3705225" h="1295400">
                <a:moveTo>
                  <a:pt x="76195" y="0"/>
                </a:moveTo>
                <a:lnTo>
                  <a:pt x="3629030" y="0"/>
                </a:lnTo>
                <a:cubicBezTo>
                  <a:pt x="3671083" y="0"/>
                  <a:pt x="3705225" y="34142"/>
                  <a:pt x="3705225" y="76195"/>
                </a:cubicBezTo>
                <a:lnTo>
                  <a:pt x="3705225" y="1219205"/>
                </a:lnTo>
                <a:cubicBezTo>
                  <a:pt x="3705225" y="1261286"/>
                  <a:pt x="3671111" y="1295400"/>
                  <a:pt x="36290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55" name="Shape 53"/>
          <p:cNvSpPr/>
          <p:nvPr/>
        </p:nvSpPr>
        <p:spPr>
          <a:xfrm>
            <a:off x="82550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56" name="Shape 54"/>
          <p:cNvSpPr/>
          <p:nvPr/>
        </p:nvSpPr>
        <p:spPr>
          <a:xfrm>
            <a:off x="8378825" y="4076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8712200" y="40195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落地应用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255000" y="4457700"/>
            <a:ext cx="34766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指标写入数据库，供</a:t>
            </a: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看板与 AI 解读使用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，形成可量化、可追踪的治理依据。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0050" y="54483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60" name="Shape 58"/>
          <p:cNvSpPr/>
          <p:nvPr/>
        </p:nvSpPr>
        <p:spPr>
          <a:xfrm>
            <a:off x="400050" y="54483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1" name="Text 59"/>
          <p:cNvSpPr/>
          <p:nvPr/>
        </p:nvSpPr>
        <p:spPr>
          <a:xfrm>
            <a:off x="533400" y="5562600"/>
            <a:ext cx="11239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核心价值：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OpenDigger 把散乱事件变成</a:t>
            </a:r>
            <a:r>
              <a:rPr lang="en-US" sz="12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"治理语言"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的指标，是我们系统量化分析的底座。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MaxKB: 治理知识库与证据引用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让建议有据可依、有迹可循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Text 3"/>
          <p:cNvSpPr/>
          <p:nvPr/>
        </p:nvSpPr>
        <p:spPr>
          <a:xfrm>
            <a:off x="381000" y="1371600"/>
            <a:ext cx="11544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知识范围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885950"/>
            <a:ext cx="3705225" cy="895350"/>
          </a:xfrm>
          <a:custGeom>
            <a:avLst/>
            <a:gdLst/>
            <a:ahLst/>
            <a:cxnLst/>
            <a:rect l="l" t="t" r="r" b="b"/>
            <a:pathLst>
              <a:path w="3705225" h="895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819147"/>
                </a:lnTo>
                <a:cubicBezTo>
                  <a:pt x="3705225" y="861233"/>
                  <a:pt x="3671108" y="895350"/>
                  <a:pt x="362902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7" name="Shape 5"/>
          <p:cNvSpPr/>
          <p:nvPr/>
        </p:nvSpPr>
        <p:spPr>
          <a:xfrm>
            <a:off x="381000" y="1885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Text 6"/>
          <p:cNvSpPr/>
          <p:nvPr/>
        </p:nvSpPr>
        <p:spPr>
          <a:xfrm>
            <a:off x="533400" y="2057400"/>
            <a:ext cx="3486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治理规范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24003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GOVERNANCE、贡献指南、行为准则、评审流程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800" y="1885950"/>
            <a:ext cx="3705225" cy="895350"/>
          </a:xfrm>
          <a:custGeom>
            <a:avLst/>
            <a:gdLst/>
            <a:ahLst/>
            <a:cxnLst/>
            <a:rect l="l" t="t" r="r" b="b"/>
            <a:pathLst>
              <a:path w="3705225" h="895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819147"/>
                </a:lnTo>
                <a:cubicBezTo>
                  <a:pt x="3705225" y="861233"/>
                  <a:pt x="3671108" y="895350"/>
                  <a:pt x="362902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1" name="Shape 9"/>
          <p:cNvSpPr/>
          <p:nvPr/>
        </p:nvSpPr>
        <p:spPr>
          <a:xfrm>
            <a:off x="4241800" y="1885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2" name="Text 10"/>
          <p:cNvSpPr/>
          <p:nvPr/>
        </p:nvSpPr>
        <p:spPr>
          <a:xfrm>
            <a:off x="4394200" y="2057400"/>
            <a:ext cx="3486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社区决策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4200" y="24003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RFC/Proposal、会议纪要、重大变更记录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2600" y="1885950"/>
            <a:ext cx="3705225" cy="895350"/>
          </a:xfrm>
          <a:custGeom>
            <a:avLst/>
            <a:gdLst/>
            <a:ahLst/>
            <a:cxnLst/>
            <a:rect l="l" t="t" r="r" b="b"/>
            <a:pathLst>
              <a:path w="3705225" h="895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819147"/>
                </a:lnTo>
                <a:cubicBezTo>
                  <a:pt x="3705225" y="861233"/>
                  <a:pt x="3671108" y="895350"/>
                  <a:pt x="362902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5" name="Shape 13"/>
          <p:cNvSpPr/>
          <p:nvPr/>
        </p:nvSpPr>
        <p:spPr>
          <a:xfrm>
            <a:off x="8102600" y="1885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6" name="Text 14"/>
          <p:cNvSpPr/>
          <p:nvPr/>
        </p:nvSpPr>
        <p:spPr>
          <a:xfrm>
            <a:off x="8255000" y="2057400"/>
            <a:ext cx="3486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合规管理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5000" y="24003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License/CLA/DCO、发布规范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1000" y="2933700"/>
            <a:ext cx="11544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3429000"/>
            <a:ext cx="5638800" cy="933450"/>
          </a:xfrm>
          <a:custGeom>
            <a:avLst/>
            <a:gdLst/>
            <a:ahLst/>
            <a:cxnLst/>
            <a:rect l="l" t="t" r="r" b="b"/>
            <a:pathLst>
              <a:path w="5638800" h="933450">
                <a:moveTo>
                  <a:pt x="76198" y="0"/>
                </a:moveTo>
                <a:lnTo>
                  <a:pt x="5562602" y="0"/>
                </a:lnTo>
                <a:cubicBezTo>
                  <a:pt x="5604685" y="0"/>
                  <a:pt x="5638800" y="34115"/>
                  <a:pt x="5638800" y="76198"/>
                </a:cubicBezTo>
                <a:lnTo>
                  <a:pt x="5638800" y="857252"/>
                </a:lnTo>
                <a:cubicBezTo>
                  <a:pt x="5638800" y="899335"/>
                  <a:pt x="5604685" y="933450"/>
                  <a:pt x="55626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20" name="Shape 18"/>
          <p:cNvSpPr/>
          <p:nvPr/>
        </p:nvSpPr>
        <p:spPr>
          <a:xfrm>
            <a:off x="561975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1" name="Text 19"/>
          <p:cNvSpPr/>
          <p:nvPr/>
        </p:nvSpPr>
        <p:spPr>
          <a:xfrm>
            <a:off x="895350" y="35814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检索问答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400" y="3962400"/>
            <a:ext cx="541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自然语言提问 → 返回答案 + </a:t>
            </a: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引用证据</a:t>
            </a: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，支持精确溯源与复核验证。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429000"/>
            <a:ext cx="5638800" cy="933450"/>
          </a:xfrm>
          <a:custGeom>
            <a:avLst/>
            <a:gdLst/>
            <a:ahLst/>
            <a:cxnLst/>
            <a:rect l="l" t="t" r="r" b="b"/>
            <a:pathLst>
              <a:path w="5638800" h="933450">
                <a:moveTo>
                  <a:pt x="76198" y="0"/>
                </a:moveTo>
                <a:lnTo>
                  <a:pt x="5562602" y="0"/>
                </a:lnTo>
                <a:cubicBezTo>
                  <a:pt x="5604685" y="0"/>
                  <a:pt x="5638800" y="34115"/>
                  <a:pt x="5638800" y="76198"/>
                </a:cubicBezTo>
                <a:lnTo>
                  <a:pt x="5638800" y="857252"/>
                </a:lnTo>
                <a:cubicBezTo>
                  <a:pt x="5638800" y="899335"/>
                  <a:pt x="5604685" y="933450"/>
                  <a:pt x="556260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24" name="Shape 22"/>
          <p:cNvSpPr/>
          <p:nvPr/>
        </p:nvSpPr>
        <p:spPr>
          <a:xfrm>
            <a:off x="6353175" y="3600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lnTo>
                  <a:pt x="214313" y="14288"/>
                </a:lnTo>
                <a:cubicBezTo>
                  <a:pt x="222215" y="14288"/>
                  <a:pt x="228600" y="20672"/>
                  <a:pt x="228600" y="28575"/>
                </a:cubicBezTo>
                <a:lnTo>
                  <a:pt x="228600" y="42863"/>
                </a:lnTo>
                <a:cubicBezTo>
                  <a:pt x="228600" y="50765"/>
                  <a:pt x="222215" y="57150"/>
                  <a:pt x="214313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lnTo>
                  <a:pt x="0" y="28575"/>
                </a:lnTo>
                <a:close/>
                <a:moveTo>
                  <a:pt x="14288" y="78581"/>
                </a:moveTo>
                <a:lnTo>
                  <a:pt x="214313" y="78581"/>
                </a:lnTo>
                <a:lnTo>
                  <a:pt x="214313" y="185738"/>
                </a:lnTo>
                <a:cubicBezTo>
                  <a:pt x="214313" y="201498"/>
                  <a:pt x="201498" y="214313"/>
                  <a:pt x="185738" y="214313"/>
                </a:cubicBezTo>
                <a:lnTo>
                  <a:pt x="42863" y="214313"/>
                </a:lnTo>
                <a:cubicBezTo>
                  <a:pt x="27102" y="214313"/>
                  <a:pt x="14288" y="201498"/>
                  <a:pt x="14288" y="185738"/>
                </a:cubicBezTo>
                <a:lnTo>
                  <a:pt x="14288" y="78581"/>
                </a:lnTo>
                <a:close/>
                <a:moveTo>
                  <a:pt x="82153" y="107156"/>
                </a:moveTo>
                <a:cubicBezTo>
                  <a:pt x="76215" y="107156"/>
                  <a:pt x="71438" y="111934"/>
                  <a:pt x="71438" y="117872"/>
                </a:cubicBezTo>
                <a:cubicBezTo>
                  <a:pt x="71438" y="123810"/>
                  <a:pt x="76215" y="128588"/>
                  <a:pt x="82153" y="128588"/>
                </a:cubicBezTo>
                <a:lnTo>
                  <a:pt x="146447" y="128588"/>
                </a:lnTo>
                <a:cubicBezTo>
                  <a:pt x="152385" y="128588"/>
                  <a:pt x="157163" y="123810"/>
                  <a:pt x="157163" y="117872"/>
                </a:cubicBezTo>
                <a:cubicBezTo>
                  <a:pt x="157163" y="111934"/>
                  <a:pt x="152385" y="107156"/>
                  <a:pt x="146447" y="107156"/>
                </a:cubicBezTo>
                <a:lnTo>
                  <a:pt x="82153" y="107156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25" name="Text 23"/>
          <p:cNvSpPr/>
          <p:nvPr/>
        </p:nvSpPr>
        <p:spPr>
          <a:xfrm>
            <a:off x="6686550" y="3581400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结构化沉淀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4600" y="3962400"/>
            <a:ext cx="54102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</a:t>
            </a: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"经验治理"</a:t>
            </a: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变成</a:t>
            </a: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"可检索的制度与依据"</a:t>
            </a:r>
            <a:r>
              <a:rPr lang="en-US" sz="12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，实现知识可传承、可复用。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0050" y="4514850"/>
            <a:ext cx="5619750" cy="895350"/>
          </a:xfrm>
          <a:custGeom>
            <a:avLst/>
            <a:gdLst/>
            <a:ahLst/>
            <a:cxnLst/>
            <a:rect l="l" t="t" r="r" b="b"/>
            <a:pathLst>
              <a:path w="5619750" h="89535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19147"/>
                </a:lnTo>
                <a:cubicBezTo>
                  <a:pt x="5619750" y="861233"/>
                  <a:pt x="5585633" y="895350"/>
                  <a:pt x="55435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28" name="Shape 26"/>
          <p:cNvSpPr/>
          <p:nvPr/>
        </p:nvSpPr>
        <p:spPr>
          <a:xfrm>
            <a:off x="400050" y="451485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9" name="Shape 27"/>
          <p:cNvSpPr/>
          <p:nvPr/>
        </p:nvSpPr>
        <p:spPr>
          <a:xfrm>
            <a:off x="583406" y="4705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A3BE8C"/>
          </a:solidFill>
        </p:spPr>
      </p:sp>
      <p:sp>
        <p:nvSpPr>
          <p:cNvPr id="30" name="Text 28"/>
          <p:cNvSpPr/>
          <p:nvPr/>
        </p:nvSpPr>
        <p:spPr>
          <a:xfrm>
            <a:off x="809625" y="4667250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5010150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让建议</a:t>
            </a:r>
            <a:r>
              <a:rPr lang="en-US" sz="1200" b="1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"有依据"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，避免纯主观输出。治理建议必须可追溯、可复核、可验证。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4514850"/>
            <a:ext cx="5619750" cy="895350"/>
          </a:xfrm>
          <a:custGeom>
            <a:avLst/>
            <a:gdLst/>
            <a:ahLst/>
            <a:cxnLst/>
            <a:rect l="l" t="t" r="r" b="b"/>
            <a:pathLst>
              <a:path w="5619750" h="895350">
                <a:moveTo>
                  <a:pt x="38100" y="0"/>
                </a:moveTo>
                <a:lnTo>
                  <a:pt x="5543547" y="0"/>
                </a:lnTo>
                <a:cubicBezTo>
                  <a:pt x="5585633" y="0"/>
                  <a:pt x="5619750" y="34117"/>
                  <a:pt x="5619750" y="76203"/>
                </a:cubicBezTo>
                <a:lnTo>
                  <a:pt x="5619750" y="819147"/>
                </a:lnTo>
                <a:cubicBezTo>
                  <a:pt x="5619750" y="861233"/>
                  <a:pt x="5585633" y="895350"/>
                  <a:pt x="5543547" y="895350"/>
                </a:cubicBezTo>
                <a:lnTo>
                  <a:pt x="38100" y="895350"/>
                </a:lnTo>
                <a:cubicBezTo>
                  <a:pt x="17058" y="895350"/>
                  <a:pt x="0" y="878292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3" name="Shape 31"/>
          <p:cNvSpPr/>
          <p:nvPr/>
        </p:nvSpPr>
        <p:spPr>
          <a:xfrm>
            <a:off x="6191250" y="4514850"/>
            <a:ext cx="38100" cy="895350"/>
          </a:xfrm>
          <a:custGeom>
            <a:avLst/>
            <a:gdLst/>
            <a:ahLst/>
            <a:cxnLst/>
            <a:rect l="l" t="t" r="r" b="b"/>
            <a:pathLst>
              <a:path w="38100" h="895350">
                <a:moveTo>
                  <a:pt x="38100" y="0"/>
                </a:moveTo>
                <a:lnTo>
                  <a:pt x="38100" y="0"/>
                </a:lnTo>
                <a:lnTo>
                  <a:pt x="38100" y="895350"/>
                </a:lnTo>
                <a:lnTo>
                  <a:pt x="38100" y="895350"/>
                </a:lnTo>
                <a:cubicBezTo>
                  <a:pt x="17072" y="895350"/>
                  <a:pt x="0" y="878278"/>
                  <a:pt x="0" y="857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34" name="Shape 32"/>
          <p:cNvSpPr/>
          <p:nvPr/>
        </p:nvSpPr>
        <p:spPr>
          <a:xfrm>
            <a:off x="6374606" y="4705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35" name="Text 33"/>
          <p:cNvSpPr/>
          <p:nvPr/>
        </p:nvSpPr>
        <p:spPr>
          <a:xfrm>
            <a:off x="6600825" y="4667250"/>
            <a:ext cx="5153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证据链输出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2700" y="5010150"/>
            <a:ext cx="5372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每条建议都附带</a:t>
            </a:r>
            <a:r>
              <a:rPr lang="en-US" sz="1200" b="1" dirty="0">
                <a:solidFill>
                  <a:srgbClr val="EBCB8B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原文引用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，确保建议的权威性与可信度。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AI 融合: 指标 + 证据 → 治理建议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智能生成可执行、可追溯的治理方案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381000" y="1371600"/>
            <a:ext cx="3705225" cy="2857500"/>
          </a:xfrm>
          <a:custGeom>
            <a:avLst/>
            <a:gdLst/>
            <a:ahLst/>
            <a:cxnLst/>
            <a:rect l="l" t="t" r="r" b="b"/>
            <a:pathLst>
              <a:path w="3705225" h="2857500">
                <a:moveTo>
                  <a:pt x="76210" y="0"/>
                </a:moveTo>
                <a:lnTo>
                  <a:pt x="3629015" y="0"/>
                </a:lnTo>
                <a:cubicBezTo>
                  <a:pt x="3671105" y="0"/>
                  <a:pt x="3705225" y="34120"/>
                  <a:pt x="3705225" y="76210"/>
                </a:cubicBezTo>
                <a:lnTo>
                  <a:pt x="3705225" y="2781290"/>
                </a:lnTo>
                <a:cubicBezTo>
                  <a:pt x="3705225" y="2823380"/>
                  <a:pt x="3671105" y="2857500"/>
                  <a:pt x="3629015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2094706" y="1543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2546" y="152363"/>
                </a:moveTo>
                <a:cubicBezTo>
                  <a:pt x="197793" y="147117"/>
                  <a:pt x="197793" y="138633"/>
                  <a:pt x="192546" y="133443"/>
                </a:cubicBezTo>
                <a:lnTo>
                  <a:pt x="112179" y="53020"/>
                </a:lnTo>
                <a:cubicBezTo>
                  <a:pt x="108328" y="49169"/>
                  <a:pt x="102580" y="48053"/>
                  <a:pt x="97557" y="50118"/>
                </a:cubicBezTo>
                <a:cubicBezTo>
                  <a:pt x="92534" y="52183"/>
                  <a:pt x="89297" y="57094"/>
                  <a:pt x="89297" y="62508"/>
                </a:cubicBezTo>
                <a:lnTo>
                  <a:pt x="89297" y="107156"/>
                </a:lnTo>
                <a:lnTo>
                  <a:pt x="26789" y="107156"/>
                </a:lnTo>
                <a:cubicBezTo>
                  <a:pt x="11999" y="107156"/>
                  <a:pt x="0" y="119156"/>
                  <a:pt x="0" y="133945"/>
                </a:cubicBezTo>
                <a:lnTo>
                  <a:pt x="0" y="151805"/>
                </a:lnTo>
                <a:cubicBezTo>
                  <a:pt x="0" y="166594"/>
                  <a:pt x="11999" y="178594"/>
                  <a:pt x="26789" y="178594"/>
                </a:cubicBezTo>
                <a:lnTo>
                  <a:pt x="89297" y="178594"/>
                </a:lnTo>
                <a:lnTo>
                  <a:pt x="89297" y="223242"/>
                </a:lnTo>
                <a:cubicBezTo>
                  <a:pt x="89297" y="228656"/>
                  <a:pt x="92534" y="233567"/>
                  <a:pt x="97557" y="235632"/>
                </a:cubicBezTo>
                <a:cubicBezTo>
                  <a:pt x="102580" y="237697"/>
                  <a:pt x="108328" y="236581"/>
                  <a:pt x="112179" y="232730"/>
                </a:cubicBezTo>
                <a:lnTo>
                  <a:pt x="192546" y="152363"/>
                </a:lnTo>
                <a:close/>
                <a:moveTo>
                  <a:pt x="196453" y="232172"/>
                </a:moveTo>
                <a:cubicBezTo>
                  <a:pt x="186575" y="232172"/>
                  <a:pt x="178594" y="240153"/>
                  <a:pt x="178594" y="250031"/>
                </a:cubicBezTo>
                <a:cubicBezTo>
                  <a:pt x="178594" y="259910"/>
                  <a:pt x="186575" y="267891"/>
                  <a:pt x="196453" y="267891"/>
                </a:cubicBezTo>
                <a:lnTo>
                  <a:pt x="232172" y="267891"/>
                </a:lnTo>
                <a:cubicBezTo>
                  <a:pt x="261751" y="267891"/>
                  <a:pt x="285750" y="243892"/>
                  <a:pt x="285750" y="214313"/>
                </a:cubicBezTo>
                <a:lnTo>
                  <a:pt x="285750" y="71438"/>
                </a:lnTo>
                <a:cubicBezTo>
                  <a:pt x="285750" y="41858"/>
                  <a:pt x="261751" y="17859"/>
                  <a:pt x="232172" y="17859"/>
                </a:cubicBezTo>
                <a:lnTo>
                  <a:pt x="196453" y="17859"/>
                </a:lnTo>
                <a:cubicBezTo>
                  <a:pt x="186575" y="17859"/>
                  <a:pt x="178594" y="25840"/>
                  <a:pt x="178594" y="35719"/>
                </a:cubicBezTo>
                <a:cubicBezTo>
                  <a:pt x="178594" y="45597"/>
                  <a:pt x="186575" y="53578"/>
                  <a:pt x="196453" y="53578"/>
                </a:cubicBez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214313"/>
                </a:lnTo>
                <a:cubicBezTo>
                  <a:pt x="250031" y="224191"/>
                  <a:pt x="242050" y="232172"/>
                  <a:pt x="232172" y="232172"/>
                </a:cubicBezTo>
                <a:lnTo>
                  <a:pt x="196453" y="23217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485775" y="19431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输入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23241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609600" y="24003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OpenDigger 指标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6289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活跃度、贡献结构、风险指标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9337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09600" y="30099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MaxKB 检索证据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2385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治理规范、决策记录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35433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609600" y="36195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项目上下文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8481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时间范围、仓库、社区规模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800" y="1371600"/>
            <a:ext cx="3705225" cy="2857500"/>
          </a:xfrm>
          <a:custGeom>
            <a:avLst/>
            <a:gdLst/>
            <a:ahLst/>
            <a:cxnLst/>
            <a:rect l="l" t="t" r="r" b="b"/>
            <a:pathLst>
              <a:path w="3705225" h="2857500">
                <a:moveTo>
                  <a:pt x="76210" y="0"/>
                </a:moveTo>
                <a:lnTo>
                  <a:pt x="3629015" y="0"/>
                </a:lnTo>
                <a:cubicBezTo>
                  <a:pt x="3671105" y="0"/>
                  <a:pt x="3705225" y="34120"/>
                  <a:pt x="3705225" y="76210"/>
                </a:cubicBezTo>
                <a:lnTo>
                  <a:pt x="3705225" y="2781290"/>
                </a:lnTo>
                <a:cubicBezTo>
                  <a:pt x="3705225" y="2823380"/>
                  <a:pt x="3671105" y="2857500"/>
                  <a:pt x="3629015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8" name="Shape 16"/>
          <p:cNvSpPr/>
          <p:nvPr/>
        </p:nvSpPr>
        <p:spPr>
          <a:xfrm>
            <a:off x="5919788" y="15430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4346575" y="19431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处理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94200" y="23241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470400" y="24003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规则校验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70400" y="26289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阈值判断、趋势分析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94200" y="29337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470400" y="30099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LLM 生成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70400" y="32385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结构化模板输出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94200" y="35433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470400" y="36195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证据融合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0400" y="38481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指标+知识关联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02600" y="1371600"/>
            <a:ext cx="3705225" cy="2857500"/>
          </a:xfrm>
          <a:custGeom>
            <a:avLst/>
            <a:gdLst/>
            <a:ahLst/>
            <a:cxnLst/>
            <a:rect l="l" t="t" r="r" b="b"/>
            <a:pathLst>
              <a:path w="3705225" h="2857500">
                <a:moveTo>
                  <a:pt x="76210" y="0"/>
                </a:moveTo>
                <a:lnTo>
                  <a:pt x="3629015" y="0"/>
                </a:lnTo>
                <a:cubicBezTo>
                  <a:pt x="3671105" y="0"/>
                  <a:pt x="3705225" y="34120"/>
                  <a:pt x="3705225" y="76210"/>
                </a:cubicBezTo>
                <a:lnTo>
                  <a:pt x="3705225" y="2781290"/>
                </a:lnTo>
                <a:cubicBezTo>
                  <a:pt x="3705225" y="2823380"/>
                  <a:pt x="3671105" y="2857500"/>
                  <a:pt x="3629015" y="2857500"/>
                </a:cubicBezTo>
                <a:lnTo>
                  <a:pt x="76210" y="2857500"/>
                </a:lnTo>
                <a:cubicBezTo>
                  <a:pt x="34120" y="2857500"/>
                  <a:pt x="0" y="2823380"/>
                  <a:pt x="0" y="27812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0" name="Shape 28"/>
          <p:cNvSpPr/>
          <p:nvPr/>
        </p:nvSpPr>
        <p:spPr>
          <a:xfrm>
            <a:off x="9816307" y="1543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1843" y="152363"/>
                </a:moveTo>
                <a:cubicBezTo>
                  <a:pt x="287089" y="147117"/>
                  <a:pt x="287089" y="138633"/>
                  <a:pt x="281843" y="133443"/>
                </a:cubicBezTo>
                <a:lnTo>
                  <a:pt x="201476" y="53020"/>
                </a:lnTo>
                <a:cubicBezTo>
                  <a:pt x="197625" y="49169"/>
                  <a:pt x="191877" y="48053"/>
                  <a:pt x="186854" y="50118"/>
                </a:cubicBezTo>
                <a:cubicBezTo>
                  <a:pt x="181831" y="52183"/>
                  <a:pt x="178594" y="57094"/>
                  <a:pt x="178594" y="62508"/>
                </a:cubicBezTo>
                <a:lnTo>
                  <a:pt x="178594" y="107156"/>
                </a:lnTo>
                <a:lnTo>
                  <a:pt x="116086" y="107156"/>
                </a:lnTo>
                <a:cubicBezTo>
                  <a:pt x="101296" y="107156"/>
                  <a:pt x="89297" y="119156"/>
                  <a:pt x="89297" y="133945"/>
                </a:cubicBezTo>
                <a:lnTo>
                  <a:pt x="89297" y="151805"/>
                </a:lnTo>
                <a:cubicBezTo>
                  <a:pt x="89297" y="166594"/>
                  <a:pt x="101296" y="178594"/>
                  <a:pt x="116086" y="178594"/>
                </a:cubicBezTo>
                <a:lnTo>
                  <a:pt x="178594" y="178594"/>
                </a:lnTo>
                <a:lnTo>
                  <a:pt x="178594" y="223242"/>
                </a:lnTo>
                <a:cubicBezTo>
                  <a:pt x="178594" y="228656"/>
                  <a:pt x="181831" y="233567"/>
                  <a:pt x="186854" y="235632"/>
                </a:cubicBezTo>
                <a:cubicBezTo>
                  <a:pt x="191877" y="237697"/>
                  <a:pt x="197625" y="236581"/>
                  <a:pt x="201476" y="232730"/>
                </a:cubicBezTo>
                <a:lnTo>
                  <a:pt x="281843" y="152363"/>
                </a:lnTo>
                <a:close/>
                <a:moveTo>
                  <a:pt x="89297" y="53578"/>
                </a:moveTo>
                <a:cubicBezTo>
                  <a:pt x="99175" y="53578"/>
                  <a:pt x="107156" y="45597"/>
                  <a:pt x="107156" y="35719"/>
                </a:cubicBezTo>
                <a:cubicBezTo>
                  <a:pt x="107156" y="25840"/>
                  <a:pt x="99175" y="17859"/>
                  <a:pt x="89297" y="17859"/>
                </a:cubicBezTo>
                <a:lnTo>
                  <a:pt x="53578" y="17859"/>
                </a:lnTo>
                <a:cubicBezTo>
                  <a:pt x="23999" y="17859"/>
                  <a:pt x="0" y="41858"/>
                  <a:pt x="0" y="71438"/>
                </a:cubicBezTo>
                <a:lnTo>
                  <a:pt x="0" y="214313"/>
                </a:lnTo>
                <a:cubicBezTo>
                  <a:pt x="0" y="243892"/>
                  <a:pt x="23999" y="267891"/>
                  <a:pt x="53578" y="267891"/>
                </a:cubicBezTo>
                <a:lnTo>
                  <a:pt x="89297" y="267891"/>
                </a:lnTo>
                <a:cubicBezTo>
                  <a:pt x="99175" y="267891"/>
                  <a:pt x="107156" y="259910"/>
                  <a:pt x="107156" y="250031"/>
                </a:cubicBezTo>
                <a:cubicBezTo>
                  <a:pt x="107156" y="240153"/>
                  <a:pt x="99175" y="232172"/>
                  <a:pt x="89297" y="232172"/>
                </a:cubicBezTo>
                <a:lnTo>
                  <a:pt x="53578" y="232172"/>
                </a:lnTo>
                <a:cubicBezTo>
                  <a:pt x="43700" y="232172"/>
                  <a:pt x="35719" y="224191"/>
                  <a:pt x="35719" y="214313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lnTo>
                  <a:pt x="89297" y="535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8207375" y="19431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输出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5000" y="23241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8331200" y="24003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风险诊断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31200" y="26289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贡献集中、响应变慢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5000" y="29337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331200" y="30099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建议方案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31200" y="32385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角色分工、流程优化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5000" y="3543300"/>
            <a:ext cx="3400425" cy="533400"/>
          </a:xfrm>
          <a:custGeom>
            <a:avLst/>
            <a:gdLst/>
            <a:ahLst/>
            <a:cxnLst/>
            <a:rect l="l" t="t" r="r" b="b"/>
            <a:pathLst>
              <a:path w="3400425" h="533400">
                <a:moveTo>
                  <a:pt x="38101" y="0"/>
                </a:moveTo>
                <a:lnTo>
                  <a:pt x="3362324" y="0"/>
                </a:lnTo>
                <a:cubicBezTo>
                  <a:pt x="3383367" y="0"/>
                  <a:pt x="3400425" y="17058"/>
                  <a:pt x="3400425" y="38101"/>
                </a:cubicBezTo>
                <a:lnTo>
                  <a:pt x="3400425" y="495299"/>
                </a:lnTo>
                <a:cubicBezTo>
                  <a:pt x="3400425" y="516342"/>
                  <a:pt x="3383367" y="533400"/>
                  <a:pt x="3362324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331200" y="36195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证据引用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31200" y="3848100"/>
            <a:ext cx="33051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文档条款、决策记录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4381500"/>
            <a:ext cx="11430000" cy="1676400"/>
          </a:xfrm>
          <a:custGeom>
            <a:avLst/>
            <a:gdLst/>
            <a:ahLst/>
            <a:cxnLst/>
            <a:rect l="l" t="t" r="r" b="b"/>
            <a:pathLst>
              <a:path w="11430000" h="16764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00208"/>
                </a:lnTo>
                <a:cubicBezTo>
                  <a:pt x="11430000" y="1642288"/>
                  <a:pt x="11395888" y="1676400"/>
                  <a:pt x="113538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42" name="Shape 40"/>
          <p:cNvSpPr/>
          <p:nvPr/>
        </p:nvSpPr>
        <p:spPr>
          <a:xfrm>
            <a:off x="619125" y="46101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3" name="Text 41"/>
          <p:cNvSpPr/>
          <p:nvPr/>
        </p:nvSpPr>
        <p:spPr>
          <a:xfrm>
            <a:off x="809625" y="4572000"/>
            <a:ext cx="10906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建议输出模板示例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90550" y="4953000"/>
            <a:ext cx="2657475" cy="914400"/>
          </a:xfrm>
          <a:custGeom>
            <a:avLst/>
            <a:gdLst/>
            <a:ahLst/>
            <a:cxnLst/>
            <a:rect l="l" t="t" r="r" b="b"/>
            <a:pathLst>
              <a:path w="2657475" h="914400">
                <a:moveTo>
                  <a:pt x="38100" y="0"/>
                </a:moveTo>
                <a:lnTo>
                  <a:pt x="2581278" y="0"/>
                </a:lnTo>
                <a:cubicBezTo>
                  <a:pt x="2623360" y="0"/>
                  <a:pt x="2657475" y="34115"/>
                  <a:pt x="2657475" y="76197"/>
                </a:cubicBezTo>
                <a:lnTo>
                  <a:pt x="2657475" y="838203"/>
                </a:lnTo>
                <a:cubicBezTo>
                  <a:pt x="2657475" y="880285"/>
                  <a:pt x="2623360" y="914400"/>
                  <a:pt x="258127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Shape 43"/>
          <p:cNvSpPr/>
          <p:nvPr/>
        </p:nvSpPr>
        <p:spPr>
          <a:xfrm>
            <a:off x="590550" y="49530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6" name="Text 44"/>
          <p:cNvSpPr/>
          <p:nvPr/>
        </p:nvSpPr>
        <p:spPr>
          <a:xfrm>
            <a:off x="723900" y="5067300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现状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3900" y="537210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近 90 天 PR 响应时间上升、Issue 积压增长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381375" y="4953000"/>
            <a:ext cx="2657475" cy="914400"/>
          </a:xfrm>
          <a:custGeom>
            <a:avLst/>
            <a:gdLst/>
            <a:ahLst/>
            <a:cxnLst/>
            <a:rect l="l" t="t" r="r" b="b"/>
            <a:pathLst>
              <a:path w="2657475" h="914400">
                <a:moveTo>
                  <a:pt x="38100" y="0"/>
                </a:moveTo>
                <a:lnTo>
                  <a:pt x="2581278" y="0"/>
                </a:lnTo>
                <a:cubicBezTo>
                  <a:pt x="2623360" y="0"/>
                  <a:pt x="2657475" y="34115"/>
                  <a:pt x="2657475" y="76197"/>
                </a:cubicBezTo>
                <a:lnTo>
                  <a:pt x="2657475" y="838203"/>
                </a:lnTo>
                <a:cubicBezTo>
                  <a:pt x="2657475" y="880285"/>
                  <a:pt x="2623360" y="914400"/>
                  <a:pt x="258127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Shape 47"/>
          <p:cNvSpPr/>
          <p:nvPr/>
        </p:nvSpPr>
        <p:spPr>
          <a:xfrm>
            <a:off x="3381375" y="49530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50" name="Text 48"/>
          <p:cNvSpPr/>
          <p:nvPr/>
        </p:nvSpPr>
        <p:spPr>
          <a:xfrm>
            <a:off x="3514725" y="5067300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诊断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514725" y="5372100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维护者负载过高 + Review 权限集中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2200" y="4953000"/>
            <a:ext cx="2657475" cy="914400"/>
          </a:xfrm>
          <a:custGeom>
            <a:avLst/>
            <a:gdLst/>
            <a:ahLst/>
            <a:cxnLst/>
            <a:rect l="l" t="t" r="r" b="b"/>
            <a:pathLst>
              <a:path w="2657475" h="914400">
                <a:moveTo>
                  <a:pt x="38100" y="0"/>
                </a:moveTo>
                <a:lnTo>
                  <a:pt x="2581278" y="0"/>
                </a:lnTo>
                <a:cubicBezTo>
                  <a:pt x="2623360" y="0"/>
                  <a:pt x="2657475" y="34115"/>
                  <a:pt x="2657475" y="76197"/>
                </a:cubicBezTo>
                <a:lnTo>
                  <a:pt x="2657475" y="838203"/>
                </a:lnTo>
                <a:cubicBezTo>
                  <a:pt x="2657475" y="880285"/>
                  <a:pt x="2623360" y="914400"/>
                  <a:pt x="258127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Shape 51"/>
          <p:cNvSpPr/>
          <p:nvPr/>
        </p:nvSpPr>
        <p:spPr>
          <a:xfrm>
            <a:off x="6172200" y="49530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54" name="Text 52"/>
          <p:cNvSpPr/>
          <p:nvPr/>
        </p:nvSpPr>
        <p:spPr>
          <a:xfrm>
            <a:off x="6305550" y="5067300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建议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05550" y="537210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引入 Reviewer 角色、设置 PR SLA、完善 CONTRIBUTING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63025" y="4953000"/>
            <a:ext cx="2657475" cy="914400"/>
          </a:xfrm>
          <a:custGeom>
            <a:avLst/>
            <a:gdLst/>
            <a:ahLst/>
            <a:cxnLst/>
            <a:rect l="l" t="t" r="r" b="b"/>
            <a:pathLst>
              <a:path w="2657475" h="914400">
                <a:moveTo>
                  <a:pt x="38100" y="0"/>
                </a:moveTo>
                <a:lnTo>
                  <a:pt x="2581278" y="0"/>
                </a:lnTo>
                <a:cubicBezTo>
                  <a:pt x="2623360" y="0"/>
                  <a:pt x="2657475" y="34115"/>
                  <a:pt x="2657475" y="76197"/>
                </a:cubicBezTo>
                <a:lnTo>
                  <a:pt x="2657475" y="838203"/>
                </a:lnTo>
                <a:cubicBezTo>
                  <a:pt x="2657475" y="880285"/>
                  <a:pt x="2623360" y="914400"/>
                  <a:pt x="258127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Shape 55"/>
          <p:cNvSpPr/>
          <p:nvPr/>
        </p:nvSpPr>
        <p:spPr>
          <a:xfrm>
            <a:off x="8963025" y="49530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8" name="Text 56"/>
          <p:cNvSpPr/>
          <p:nvPr/>
        </p:nvSpPr>
        <p:spPr>
          <a:xfrm>
            <a:off x="9096375" y="5067300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依据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096375" y="5372100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引用贡献规范/治理章程条款 + 历史讨论记录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关键技术设计: 高可用与一致性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工程可落地的稳定架构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381000" y="13906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6" name="Shape 4"/>
          <p:cNvSpPr/>
          <p:nvPr/>
        </p:nvSpPr>
        <p:spPr>
          <a:xfrm>
            <a:off x="381000" y="13906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" name="Shape 5"/>
          <p:cNvSpPr/>
          <p:nvPr/>
        </p:nvSpPr>
        <p:spPr>
          <a:xfrm>
            <a:off x="4953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613172" y="1628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21431"/>
                </a:moveTo>
                <a:lnTo>
                  <a:pt x="117872" y="21431"/>
                </a:lnTo>
                <a:lnTo>
                  <a:pt x="117872" y="160734"/>
                </a:lnTo>
                <a:cubicBezTo>
                  <a:pt x="117872" y="166661"/>
                  <a:pt x="122660" y="171450"/>
                  <a:pt x="128588" y="171450"/>
                </a:cubicBezTo>
                <a:lnTo>
                  <a:pt x="139303" y="171450"/>
                </a:lnTo>
                <a:cubicBezTo>
                  <a:pt x="145230" y="171450"/>
                  <a:pt x="150019" y="166661"/>
                  <a:pt x="150019" y="160734"/>
                </a:cubicBezTo>
                <a:cubicBezTo>
                  <a:pt x="150019" y="154807"/>
                  <a:pt x="145230" y="150019"/>
                  <a:pt x="139303" y="150019"/>
                </a:cubicBezTo>
                <a:lnTo>
                  <a:pt x="139303" y="21431"/>
                </a:lnTo>
                <a:cubicBezTo>
                  <a:pt x="139303" y="9611"/>
                  <a:pt x="129693" y="0"/>
                  <a:pt x="117872" y="0"/>
                </a:cubicBezTo>
                <a:lnTo>
                  <a:pt x="85725" y="0"/>
                </a:lnTo>
                <a:lnTo>
                  <a:pt x="85725" y="0"/>
                </a:lnTo>
                <a:lnTo>
                  <a:pt x="32147" y="0"/>
                </a:lnTo>
                <a:cubicBezTo>
                  <a:pt x="20326" y="0"/>
                  <a:pt x="10716" y="9611"/>
                  <a:pt x="10716" y="21431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85725" y="171450"/>
                </a:lnTo>
                <a:cubicBezTo>
                  <a:pt x="91652" y="171450"/>
                  <a:pt x="96441" y="166661"/>
                  <a:pt x="96441" y="160734"/>
                </a:cubicBezTo>
                <a:lnTo>
                  <a:pt x="96441" y="21431"/>
                </a:lnTo>
                <a:close/>
                <a:moveTo>
                  <a:pt x="53578" y="85725"/>
                </a:moveTo>
                <a:cubicBezTo>
                  <a:pt x="53578" y="79811"/>
                  <a:pt x="58380" y="75009"/>
                  <a:pt x="64294" y="75009"/>
                </a:cubicBezTo>
                <a:cubicBezTo>
                  <a:pt x="70208" y="75009"/>
                  <a:pt x="75009" y="79811"/>
                  <a:pt x="75009" y="85725"/>
                </a:cubicBezTo>
                <a:cubicBezTo>
                  <a:pt x="75009" y="91639"/>
                  <a:pt x="70208" y="96441"/>
                  <a:pt x="64294" y="96441"/>
                </a:cubicBezTo>
                <a:cubicBezTo>
                  <a:pt x="58380" y="96441"/>
                  <a:pt x="53578" y="91639"/>
                  <a:pt x="53578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952500" y="1581150"/>
            <a:ext cx="1000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Nginx 集群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2009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Text 9"/>
          <p:cNvSpPr/>
          <p:nvPr/>
        </p:nvSpPr>
        <p:spPr>
          <a:xfrm>
            <a:off x="700088" y="19812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4350" y="2238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3" name="Text 11"/>
          <p:cNvSpPr/>
          <p:nvPr/>
        </p:nvSpPr>
        <p:spPr>
          <a:xfrm>
            <a:off x="700088" y="22098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灰度发布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2466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5" name="Text 13"/>
          <p:cNvSpPr/>
          <p:nvPr/>
        </p:nvSpPr>
        <p:spPr>
          <a:xfrm>
            <a:off x="700088" y="24384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限流熔断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2695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7" name="Text 15"/>
          <p:cNvSpPr/>
          <p:nvPr/>
        </p:nvSpPr>
        <p:spPr>
          <a:xfrm>
            <a:off x="700088" y="26670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反向代理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29100" y="13906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9" name="Shape 17"/>
          <p:cNvSpPr/>
          <p:nvPr/>
        </p:nvSpPr>
        <p:spPr>
          <a:xfrm>
            <a:off x="4229100" y="13906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0" name="Shape 18"/>
          <p:cNvSpPr/>
          <p:nvPr/>
        </p:nvSpPr>
        <p:spPr>
          <a:xfrm>
            <a:off x="43434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1" name="Shape 19"/>
          <p:cNvSpPr/>
          <p:nvPr/>
        </p:nvSpPr>
        <p:spPr>
          <a:xfrm>
            <a:off x="4461272" y="1628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4800600" y="15811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服务集群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62450" y="2009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4" name="Text 22"/>
          <p:cNvSpPr/>
          <p:nvPr/>
        </p:nvSpPr>
        <p:spPr>
          <a:xfrm>
            <a:off x="4548188" y="19812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水平扩容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2450" y="2238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6" name="Text 24"/>
          <p:cNvSpPr/>
          <p:nvPr/>
        </p:nvSpPr>
        <p:spPr>
          <a:xfrm>
            <a:off x="4548188" y="22098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故障转移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62450" y="2466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8" name="Text 26"/>
          <p:cNvSpPr/>
          <p:nvPr/>
        </p:nvSpPr>
        <p:spPr>
          <a:xfrm>
            <a:off x="4548188" y="24384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健康检查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62450" y="2695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0" name="Text 28"/>
          <p:cNvSpPr/>
          <p:nvPr/>
        </p:nvSpPr>
        <p:spPr>
          <a:xfrm>
            <a:off x="4548188" y="2667000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高并发支持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77200" y="13906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2" name="Shape 30"/>
          <p:cNvSpPr/>
          <p:nvPr/>
        </p:nvSpPr>
        <p:spPr>
          <a:xfrm>
            <a:off x="8077200" y="13906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3" name="Shape 31"/>
          <p:cNvSpPr/>
          <p:nvPr/>
        </p:nvSpPr>
        <p:spPr>
          <a:xfrm>
            <a:off x="81915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4" name="Shape 32"/>
          <p:cNvSpPr/>
          <p:nvPr/>
        </p:nvSpPr>
        <p:spPr>
          <a:xfrm>
            <a:off x="8298656" y="1628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8648700" y="1581150"/>
            <a:ext cx="809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Redis/锁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10550" y="2009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7" name="Text 35"/>
          <p:cNvSpPr/>
          <p:nvPr/>
        </p:nvSpPr>
        <p:spPr>
          <a:xfrm>
            <a:off x="8396288" y="1981200"/>
            <a:ext cx="942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Redisson 缓存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0550" y="2238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9" name="Text 37"/>
          <p:cNvSpPr/>
          <p:nvPr/>
        </p:nvSpPr>
        <p:spPr>
          <a:xfrm>
            <a:off x="8396288" y="2209800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Lock4j 分布式锁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10550" y="2466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41" name="Text 39"/>
          <p:cNvSpPr/>
          <p:nvPr/>
        </p:nvSpPr>
        <p:spPr>
          <a:xfrm>
            <a:off x="8396288" y="24384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任务去重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10550" y="26955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43" name="Text 41"/>
          <p:cNvSpPr/>
          <p:nvPr/>
        </p:nvSpPr>
        <p:spPr>
          <a:xfrm>
            <a:off x="8396288" y="26670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幂等保证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31051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45" name="Shape 43"/>
          <p:cNvSpPr/>
          <p:nvPr/>
        </p:nvSpPr>
        <p:spPr>
          <a:xfrm>
            <a:off x="381000" y="31051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6" name="Shape 44"/>
          <p:cNvSpPr/>
          <p:nvPr/>
        </p:nvSpPr>
        <p:spPr>
          <a:xfrm>
            <a:off x="4953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47" name="Shape 45"/>
          <p:cNvSpPr/>
          <p:nvPr/>
        </p:nvSpPr>
        <p:spPr>
          <a:xfrm>
            <a:off x="613172" y="3343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952500" y="32956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多数据源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4350" y="3724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0" name="Text 48"/>
          <p:cNvSpPr/>
          <p:nvPr/>
        </p:nvSpPr>
        <p:spPr>
          <a:xfrm>
            <a:off x="700088" y="3695700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dynamic-datasource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14350" y="3952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2" name="Text 50"/>
          <p:cNvSpPr/>
          <p:nvPr/>
        </p:nvSpPr>
        <p:spPr>
          <a:xfrm>
            <a:off x="700088" y="39243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主从读写分离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4350" y="4181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4" name="Text 52"/>
          <p:cNvSpPr/>
          <p:nvPr/>
        </p:nvSpPr>
        <p:spPr>
          <a:xfrm>
            <a:off x="700088" y="4152900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 DB 适配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4350" y="4410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6" name="Text 54"/>
          <p:cNvSpPr/>
          <p:nvPr/>
        </p:nvSpPr>
        <p:spPr>
          <a:xfrm>
            <a:off x="700088" y="43815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无缝迁移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29100" y="31051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58" name="Shape 56"/>
          <p:cNvSpPr/>
          <p:nvPr/>
        </p:nvSpPr>
        <p:spPr>
          <a:xfrm>
            <a:off x="4229100" y="31051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59" name="Shape 57"/>
          <p:cNvSpPr/>
          <p:nvPr/>
        </p:nvSpPr>
        <p:spPr>
          <a:xfrm>
            <a:off x="43434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60" name="Shape 58"/>
          <p:cNvSpPr/>
          <p:nvPr/>
        </p:nvSpPr>
        <p:spPr>
          <a:xfrm>
            <a:off x="4439841" y="33432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4800600" y="32956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对象存储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62450" y="3724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63" name="Text 61"/>
          <p:cNvSpPr/>
          <p:nvPr/>
        </p:nvSpPr>
        <p:spPr>
          <a:xfrm>
            <a:off x="4548188" y="3695700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MinIO + 云 OSS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362450" y="3952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65" name="Text 63"/>
          <p:cNvSpPr/>
          <p:nvPr/>
        </p:nvSpPr>
        <p:spPr>
          <a:xfrm>
            <a:off x="4548188" y="3924300"/>
            <a:ext cx="657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报告/快照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362450" y="4181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67" name="Text 65"/>
          <p:cNvSpPr/>
          <p:nvPr/>
        </p:nvSpPr>
        <p:spPr>
          <a:xfrm>
            <a:off x="4548188" y="41529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文档归档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362450" y="4410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EBCB8B"/>
          </a:solidFill>
        </p:spPr>
      </p:sp>
      <p:sp>
        <p:nvSpPr>
          <p:cNvPr id="69" name="Text 67"/>
          <p:cNvSpPr/>
          <p:nvPr/>
        </p:nvSpPr>
        <p:spPr>
          <a:xfrm>
            <a:off x="4548188" y="43815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数据共享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077200" y="3105150"/>
            <a:ext cx="3733800" cy="1581150"/>
          </a:xfrm>
          <a:custGeom>
            <a:avLst/>
            <a:gdLst/>
            <a:ahLst/>
            <a:cxnLst/>
            <a:rect l="l" t="t" r="r" b="b"/>
            <a:pathLst>
              <a:path w="3733800" h="1581150">
                <a:moveTo>
                  <a:pt x="38100" y="0"/>
                </a:moveTo>
                <a:lnTo>
                  <a:pt x="3695700" y="0"/>
                </a:lnTo>
                <a:cubicBezTo>
                  <a:pt x="3716742" y="0"/>
                  <a:pt x="3733800" y="17058"/>
                  <a:pt x="3733800" y="38100"/>
                </a:cubicBezTo>
                <a:lnTo>
                  <a:pt x="3733800" y="1504954"/>
                </a:lnTo>
                <a:cubicBezTo>
                  <a:pt x="3733800" y="1547036"/>
                  <a:pt x="3699686" y="1581150"/>
                  <a:pt x="3657604" y="1581150"/>
                </a:cubicBezTo>
                <a:lnTo>
                  <a:pt x="76196" y="1581150"/>
                </a:lnTo>
                <a:cubicBezTo>
                  <a:pt x="34114" y="1581150"/>
                  <a:pt x="0" y="1547036"/>
                  <a:pt x="0" y="15049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71" name="Shape 69"/>
          <p:cNvSpPr/>
          <p:nvPr/>
        </p:nvSpPr>
        <p:spPr>
          <a:xfrm>
            <a:off x="8077200" y="31051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72" name="Shape 70"/>
          <p:cNvSpPr/>
          <p:nvPr/>
        </p:nvSpPr>
        <p:spPr>
          <a:xfrm>
            <a:off x="819150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73" name="Shape 71"/>
          <p:cNvSpPr/>
          <p:nvPr/>
        </p:nvSpPr>
        <p:spPr>
          <a:xfrm>
            <a:off x="8298656" y="3343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8648700" y="32956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可观测性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10550" y="37242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76" name="Text 74"/>
          <p:cNvSpPr/>
          <p:nvPr/>
        </p:nvSpPr>
        <p:spPr>
          <a:xfrm>
            <a:off x="8396288" y="3695700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SkyWalking 追踪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10550" y="3952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78" name="Text 76"/>
          <p:cNvSpPr/>
          <p:nvPr/>
        </p:nvSpPr>
        <p:spPr>
          <a:xfrm>
            <a:off x="8396288" y="392430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SpringBoot-Admin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10550" y="4181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80" name="Text 78"/>
          <p:cNvSpPr/>
          <p:nvPr/>
        </p:nvSpPr>
        <p:spPr>
          <a:xfrm>
            <a:off x="8396288" y="41529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链路监控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10550" y="4410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F616A"/>
          </a:solidFill>
        </p:spPr>
      </p:sp>
      <p:sp>
        <p:nvSpPr>
          <p:cNvPr id="82" name="Text 80"/>
          <p:cNvSpPr/>
          <p:nvPr/>
        </p:nvSpPr>
        <p:spPr>
          <a:xfrm>
            <a:off x="8396288" y="438150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性能分析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381000" y="4838700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84" name="Shape 82"/>
          <p:cNvSpPr/>
          <p:nvPr/>
        </p:nvSpPr>
        <p:spPr>
          <a:xfrm>
            <a:off x="533400" y="4991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85" name="Shape 83"/>
          <p:cNvSpPr/>
          <p:nvPr/>
        </p:nvSpPr>
        <p:spPr>
          <a:xfrm>
            <a:off x="647700" y="5105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1104900" y="5067300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架构保障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533400" y="5562600"/>
            <a:ext cx="3609975" cy="685800"/>
          </a:xfrm>
          <a:custGeom>
            <a:avLst/>
            <a:gdLst/>
            <a:ahLst/>
            <a:cxnLst/>
            <a:rect l="l" t="t" r="r" b="b"/>
            <a:pathLst>
              <a:path w="3609975" h="68580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609601"/>
                </a:lnTo>
                <a:cubicBezTo>
                  <a:pt x="3609975" y="651684"/>
                  <a:pt x="3575859" y="685800"/>
                  <a:pt x="35337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88" name="Text 86"/>
          <p:cNvSpPr/>
          <p:nvPr/>
        </p:nvSpPr>
        <p:spPr>
          <a:xfrm>
            <a:off x="647700" y="5676900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高可用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47700" y="594360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从入口到数据全链路保障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4292600" y="5562600"/>
            <a:ext cx="3609975" cy="685800"/>
          </a:xfrm>
          <a:custGeom>
            <a:avLst/>
            <a:gdLst/>
            <a:ahLst/>
            <a:cxnLst/>
            <a:rect l="l" t="t" r="r" b="b"/>
            <a:pathLst>
              <a:path w="3609975" h="68580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609601"/>
                </a:lnTo>
                <a:cubicBezTo>
                  <a:pt x="3609975" y="651684"/>
                  <a:pt x="3575859" y="685800"/>
                  <a:pt x="35337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1" name="Text 89"/>
          <p:cNvSpPr/>
          <p:nvPr/>
        </p:nvSpPr>
        <p:spPr>
          <a:xfrm>
            <a:off x="4406900" y="5676900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4406900" y="594360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水平扩容与多源适配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051800" y="5562600"/>
            <a:ext cx="3609975" cy="685800"/>
          </a:xfrm>
          <a:custGeom>
            <a:avLst/>
            <a:gdLst/>
            <a:ahLst/>
            <a:cxnLst/>
            <a:rect l="l" t="t" r="r" b="b"/>
            <a:pathLst>
              <a:path w="3609975" h="685800">
                <a:moveTo>
                  <a:pt x="76199" y="0"/>
                </a:moveTo>
                <a:lnTo>
                  <a:pt x="3533776" y="0"/>
                </a:lnTo>
                <a:cubicBezTo>
                  <a:pt x="3575859" y="0"/>
                  <a:pt x="3609975" y="34116"/>
                  <a:pt x="3609975" y="76199"/>
                </a:cubicBezTo>
                <a:lnTo>
                  <a:pt x="3609975" y="609601"/>
                </a:lnTo>
                <a:cubicBezTo>
                  <a:pt x="3609975" y="651684"/>
                  <a:pt x="3575859" y="685800"/>
                  <a:pt x="35337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94" name="Text 92"/>
          <p:cNvSpPr/>
          <p:nvPr/>
        </p:nvSpPr>
        <p:spPr>
          <a:xfrm>
            <a:off x="8166100" y="5676900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可观测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166100" y="5943600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监控+追踪快速定位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能展</a:t>
            </a:r>
            <a:r>
              <a:rPr lang="en-US" sz="225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  <a:sym typeface="+mn-ea"/>
              </a:rPr>
              <a:t>功</a:t>
            </a:r>
            <a:r>
              <a:rPr lang="en-US" sz="225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698500"/>
            <a:ext cx="11636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数据、知识、报告统一入口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317500" y="1143000"/>
            <a:ext cx="5715000" cy="2571750"/>
          </a:xfrm>
          <a:custGeom>
            <a:avLst/>
            <a:gdLst/>
            <a:ahLst/>
            <a:cxnLst/>
            <a:rect l="l" t="t" r="r" b="b"/>
            <a:pathLst>
              <a:path w="5715000" h="2571750">
                <a:moveTo>
                  <a:pt x="63497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508253"/>
                </a:lnTo>
                <a:cubicBezTo>
                  <a:pt x="5715000" y="2543322"/>
                  <a:pt x="5686572" y="2571750"/>
                  <a:pt x="5651503" y="2571750"/>
                </a:cubicBezTo>
                <a:lnTo>
                  <a:pt x="63497" y="2571750"/>
                </a:lnTo>
                <a:cubicBezTo>
                  <a:pt x="28428" y="2571750"/>
                  <a:pt x="0" y="2543322"/>
                  <a:pt x="0" y="25082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6" name="Shape 4"/>
          <p:cNvSpPr/>
          <p:nvPr/>
        </p:nvSpPr>
        <p:spPr>
          <a:xfrm>
            <a:off x="444500" y="127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" name="Shape 5"/>
          <p:cNvSpPr/>
          <p:nvPr/>
        </p:nvSpPr>
        <p:spPr>
          <a:xfrm>
            <a:off x="555625" y="1381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20750" y="133350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治理看板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" y="1746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555625" y="187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26764"/>
                </a:moveTo>
                <a:lnTo>
                  <a:pt x="59779" y="21605"/>
                </a:lnTo>
                <a:cubicBezTo>
                  <a:pt x="53578" y="13022"/>
                  <a:pt x="43631" y="7938"/>
                  <a:pt x="33015" y="7938"/>
                </a:cubicBezTo>
                <a:cubicBezTo>
                  <a:pt x="14784" y="7938"/>
                  <a:pt x="0" y="22721"/>
                  <a:pt x="0" y="40953"/>
                </a:cubicBezTo>
                <a:lnTo>
                  <a:pt x="0" y="41597"/>
                </a:lnTo>
                <a:cubicBezTo>
                  <a:pt x="0" y="47451"/>
                  <a:pt x="1538" y="53504"/>
                  <a:pt x="4118" y="59531"/>
                </a:cubicBezTo>
                <a:lnTo>
                  <a:pt x="30411" y="59531"/>
                </a:lnTo>
                <a:cubicBezTo>
                  <a:pt x="31204" y="59531"/>
                  <a:pt x="31924" y="59060"/>
                  <a:pt x="32246" y="58316"/>
                </a:cubicBezTo>
                <a:lnTo>
                  <a:pt x="40134" y="39390"/>
                </a:lnTo>
                <a:cubicBezTo>
                  <a:pt x="41052" y="37207"/>
                  <a:pt x="43185" y="35768"/>
                  <a:pt x="45541" y="35719"/>
                </a:cubicBezTo>
                <a:cubicBezTo>
                  <a:pt x="47898" y="35669"/>
                  <a:pt x="50081" y="37058"/>
                  <a:pt x="51048" y="39216"/>
                </a:cubicBezTo>
                <a:lnTo>
                  <a:pt x="63773" y="67469"/>
                </a:lnTo>
                <a:lnTo>
                  <a:pt x="74042" y="46930"/>
                </a:lnTo>
                <a:cubicBezTo>
                  <a:pt x="75059" y="44921"/>
                  <a:pt x="77118" y="43631"/>
                  <a:pt x="79375" y="43631"/>
                </a:cubicBezTo>
                <a:cubicBezTo>
                  <a:pt x="81632" y="43631"/>
                  <a:pt x="83691" y="44896"/>
                  <a:pt x="84708" y="46930"/>
                </a:cubicBezTo>
                <a:lnTo>
                  <a:pt x="90463" y="58415"/>
                </a:lnTo>
                <a:cubicBezTo>
                  <a:pt x="90810" y="59085"/>
                  <a:pt x="91480" y="59506"/>
                  <a:pt x="92249" y="59506"/>
                </a:cubicBezTo>
                <a:lnTo>
                  <a:pt x="122907" y="59506"/>
                </a:lnTo>
                <a:cubicBezTo>
                  <a:pt x="125512" y="53479"/>
                  <a:pt x="127025" y="47427"/>
                  <a:pt x="127025" y="41573"/>
                </a:cubicBezTo>
                <a:lnTo>
                  <a:pt x="127025" y="40928"/>
                </a:lnTo>
                <a:cubicBezTo>
                  <a:pt x="127000" y="22721"/>
                  <a:pt x="112216" y="7938"/>
                  <a:pt x="93985" y="7938"/>
                </a:cubicBezTo>
                <a:cubicBezTo>
                  <a:pt x="83393" y="7938"/>
                  <a:pt x="73422" y="13022"/>
                  <a:pt x="67221" y="21605"/>
                </a:cubicBezTo>
                <a:lnTo>
                  <a:pt x="63500" y="26739"/>
                </a:lnTo>
                <a:close/>
                <a:moveTo>
                  <a:pt x="116483" y="71438"/>
                </a:moveTo>
                <a:lnTo>
                  <a:pt x="92224" y="71438"/>
                </a:lnTo>
                <a:cubicBezTo>
                  <a:pt x="86965" y="71438"/>
                  <a:pt x="82153" y="68461"/>
                  <a:pt x="79797" y="63748"/>
                </a:cubicBezTo>
                <a:lnTo>
                  <a:pt x="79375" y="62905"/>
                </a:lnTo>
                <a:lnTo>
                  <a:pt x="68833" y="84013"/>
                </a:lnTo>
                <a:cubicBezTo>
                  <a:pt x="67816" y="86072"/>
                  <a:pt x="65683" y="87362"/>
                  <a:pt x="63376" y="87313"/>
                </a:cubicBezTo>
                <a:cubicBezTo>
                  <a:pt x="61069" y="87263"/>
                  <a:pt x="59010" y="85899"/>
                  <a:pt x="58068" y="83815"/>
                </a:cubicBezTo>
                <a:lnTo>
                  <a:pt x="45839" y="56654"/>
                </a:lnTo>
                <a:lnTo>
                  <a:pt x="43235" y="62905"/>
                </a:lnTo>
                <a:cubicBezTo>
                  <a:pt x="41077" y="68089"/>
                  <a:pt x="36016" y="71462"/>
                  <a:pt x="30411" y="71462"/>
                </a:cubicBezTo>
                <a:lnTo>
                  <a:pt x="10517" y="71462"/>
                </a:lnTo>
                <a:cubicBezTo>
                  <a:pt x="22225" y="89768"/>
                  <a:pt x="41027" y="106611"/>
                  <a:pt x="52784" y="115590"/>
                </a:cubicBezTo>
                <a:cubicBezTo>
                  <a:pt x="55860" y="117921"/>
                  <a:pt x="59630" y="119087"/>
                  <a:pt x="63475" y="119087"/>
                </a:cubicBezTo>
                <a:cubicBezTo>
                  <a:pt x="67320" y="119087"/>
                  <a:pt x="71115" y="117946"/>
                  <a:pt x="74166" y="115590"/>
                </a:cubicBezTo>
                <a:cubicBezTo>
                  <a:pt x="85973" y="106586"/>
                  <a:pt x="104775" y="89743"/>
                  <a:pt x="116483" y="71438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Text 9"/>
          <p:cNvSpPr/>
          <p:nvPr/>
        </p:nvSpPr>
        <p:spPr>
          <a:xfrm>
            <a:off x="698500" y="1841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项目健康度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" y="2063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实时监控活跃度、贡献结构、风险状态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500" y="2381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555625" y="2508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15" name="Text 13"/>
          <p:cNvSpPr/>
          <p:nvPr/>
        </p:nvSpPr>
        <p:spPr>
          <a:xfrm>
            <a:off x="698500" y="2476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趋势分析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750" y="2698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PR/Issue 响应趋势、贡献者变化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3016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555625" y="314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9" name="Text 17"/>
          <p:cNvSpPr/>
          <p:nvPr/>
        </p:nvSpPr>
        <p:spPr>
          <a:xfrm>
            <a:off x="698500" y="3111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风险提示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750" y="3333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贡献集中、响应变慢等异常预警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59500" y="1143000"/>
            <a:ext cx="5715000" cy="2571750"/>
          </a:xfrm>
          <a:custGeom>
            <a:avLst/>
            <a:gdLst/>
            <a:ahLst/>
            <a:cxnLst/>
            <a:rect l="l" t="t" r="r" b="b"/>
            <a:pathLst>
              <a:path w="5715000" h="2571750">
                <a:moveTo>
                  <a:pt x="63497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508253"/>
                </a:lnTo>
                <a:cubicBezTo>
                  <a:pt x="5715000" y="2543322"/>
                  <a:pt x="5686572" y="2571750"/>
                  <a:pt x="5651503" y="2571750"/>
                </a:cubicBezTo>
                <a:lnTo>
                  <a:pt x="63497" y="2571750"/>
                </a:lnTo>
                <a:cubicBezTo>
                  <a:pt x="28428" y="2571750"/>
                  <a:pt x="0" y="2543322"/>
                  <a:pt x="0" y="25082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22" name="Shape 20"/>
          <p:cNvSpPr/>
          <p:nvPr/>
        </p:nvSpPr>
        <p:spPr>
          <a:xfrm>
            <a:off x="6286500" y="1270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3" name="Shape 21"/>
          <p:cNvSpPr/>
          <p:nvPr/>
        </p:nvSpPr>
        <p:spPr>
          <a:xfrm>
            <a:off x="6387703" y="13811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6762750" y="133350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问答入口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86500" y="1746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6397625" y="187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63500" y="43656"/>
                </a:moveTo>
                <a:cubicBezTo>
                  <a:pt x="59110" y="43656"/>
                  <a:pt x="55563" y="47203"/>
                  <a:pt x="55563" y="51594"/>
                </a:cubicBezTo>
                <a:cubicBezTo>
                  <a:pt x="55563" y="54893"/>
                  <a:pt x="52908" y="57547"/>
                  <a:pt x="49609" y="57547"/>
                </a:cubicBezTo>
                <a:cubicBezTo>
                  <a:pt x="46310" y="57547"/>
                  <a:pt x="43656" y="54893"/>
                  <a:pt x="43656" y="51594"/>
                </a:cubicBezTo>
                <a:cubicBezTo>
                  <a:pt x="43656" y="40630"/>
                  <a:pt x="52536" y="31750"/>
                  <a:pt x="63500" y="31750"/>
                </a:cubicBezTo>
                <a:cubicBezTo>
                  <a:pt x="74464" y="31750"/>
                  <a:pt x="83344" y="40630"/>
                  <a:pt x="83344" y="51594"/>
                </a:cubicBezTo>
                <a:cubicBezTo>
                  <a:pt x="83344" y="63302"/>
                  <a:pt x="74414" y="68263"/>
                  <a:pt x="69453" y="70073"/>
                </a:cubicBezTo>
                <a:lnTo>
                  <a:pt x="69453" y="71016"/>
                </a:lnTo>
                <a:cubicBezTo>
                  <a:pt x="69453" y="74315"/>
                  <a:pt x="66799" y="76969"/>
                  <a:pt x="63500" y="76969"/>
                </a:cubicBezTo>
                <a:cubicBezTo>
                  <a:pt x="60201" y="76969"/>
                  <a:pt x="57547" y="74315"/>
                  <a:pt x="57547" y="71016"/>
                </a:cubicBezTo>
                <a:lnTo>
                  <a:pt x="57547" y="69007"/>
                </a:lnTo>
                <a:cubicBezTo>
                  <a:pt x="57547" y="63922"/>
                  <a:pt x="61218" y="60275"/>
                  <a:pt x="65013" y="59035"/>
                </a:cubicBezTo>
                <a:cubicBezTo>
                  <a:pt x="66601" y="58514"/>
                  <a:pt x="68287" y="57671"/>
                  <a:pt x="69528" y="56480"/>
                </a:cubicBezTo>
                <a:cubicBezTo>
                  <a:pt x="70594" y="55438"/>
                  <a:pt x="71438" y="54000"/>
                  <a:pt x="71438" y="51619"/>
                </a:cubicBezTo>
                <a:cubicBezTo>
                  <a:pt x="71438" y="47228"/>
                  <a:pt x="67890" y="43681"/>
                  <a:pt x="63500" y="43681"/>
                </a:cubicBezTo>
                <a:close/>
                <a:moveTo>
                  <a:pt x="55563" y="91281"/>
                </a:moveTo>
                <a:cubicBezTo>
                  <a:pt x="55563" y="86900"/>
                  <a:pt x="59119" y="83344"/>
                  <a:pt x="63500" y="83344"/>
                </a:cubicBezTo>
                <a:cubicBezTo>
                  <a:pt x="67881" y="83344"/>
                  <a:pt x="71438" y="86900"/>
                  <a:pt x="71438" y="91281"/>
                </a:cubicBezTo>
                <a:cubicBezTo>
                  <a:pt x="71438" y="95662"/>
                  <a:pt x="67881" y="99219"/>
                  <a:pt x="63500" y="99219"/>
                </a:cubicBezTo>
                <a:cubicBezTo>
                  <a:pt x="59119" y="99219"/>
                  <a:pt x="55563" y="95662"/>
                  <a:pt x="55563" y="91281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7" name="Text 25"/>
          <p:cNvSpPr/>
          <p:nvPr/>
        </p:nvSpPr>
        <p:spPr>
          <a:xfrm>
            <a:off x="6540500" y="1841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自然语言提问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2063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"如何设置 PR 评审流程？"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86500" y="2381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6389688" y="2508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1" name="Text 29"/>
          <p:cNvSpPr/>
          <p:nvPr/>
        </p:nvSpPr>
        <p:spPr>
          <a:xfrm>
            <a:off x="6540500" y="2476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带引用回答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1750" y="2698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答案+原文证据，确保可追溯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6500" y="301625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6397625" y="3143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35049"/>
                </a:moveTo>
                <a:lnTo>
                  <a:pt x="63500" y="111770"/>
                </a:lnTo>
                <a:lnTo>
                  <a:pt x="63624" y="111720"/>
                </a:lnTo>
                <a:cubicBezTo>
                  <a:pt x="77167" y="106090"/>
                  <a:pt x="91703" y="103188"/>
                  <a:pt x="106363" y="103188"/>
                </a:cubicBezTo>
                <a:lnTo>
                  <a:pt x="111125" y="103188"/>
                </a:lnTo>
                <a:lnTo>
                  <a:pt x="111125" y="23812"/>
                </a:lnTo>
                <a:lnTo>
                  <a:pt x="106363" y="23812"/>
                </a:lnTo>
                <a:cubicBezTo>
                  <a:pt x="95895" y="23812"/>
                  <a:pt x="85502" y="25896"/>
                  <a:pt x="75828" y="29914"/>
                </a:cubicBezTo>
                <a:cubicBezTo>
                  <a:pt x="71661" y="31651"/>
                  <a:pt x="67543" y="33362"/>
                  <a:pt x="63500" y="35049"/>
                </a:cubicBezTo>
                <a:close/>
                <a:moveTo>
                  <a:pt x="57274" y="15255"/>
                </a:moveTo>
                <a:lnTo>
                  <a:pt x="63500" y="17859"/>
                </a:lnTo>
                <a:lnTo>
                  <a:pt x="69726" y="15255"/>
                </a:lnTo>
                <a:cubicBezTo>
                  <a:pt x="81335" y="10418"/>
                  <a:pt x="93787" y="7938"/>
                  <a:pt x="106363" y="7938"/>
                </a:cubicBezTo>
                <a:lnTo>
                  <a:pt x="115094" y="7938"/>
                </a:lnTo>
                <a:cubicBezTo>
                  <a:pt x="121667" y="7938"/>
                  <a:pt x="127000" y="13271"/>
                  <a:pt x="127000" y="19844"/>
                </a:cubicBezTo>
                <a:lnTo>
                  <a:pt x="127000" y="107156"/>
                </a:lnTo>
                <a:cubicBezTo>
                  <a:pt x="127000" y="113729"/>
                  <a:pt x="121667" y="119063"/>
                  <a:pt x="115094" y="119063"/>
                </a:cubicBezTo>
                <a:lnTo>
                  <a:pt x="106363" y="119063"/>
                </a:lnTo>
                <a:cubicBezTo>
                  <a:pt x="93787" y="119063"/>
                  <a:pt x="81335" y="121543"/>
                  <a:pt x="69726" y="126380"/>
                </a:cubicBezTo>
                <a:lnTo>
                  <a:pt x="66551" y="127695"/>
                </a:lnTo>
                <a:cubicBezTo>
                  <a:pt x="64591" y="128513"/>
                  <a:pt x="62409" y="128513"/>
                  <a:pt x="60449" y="127695"/>
                </a:cubicBezTo>
                <a:lnTo>
                  <a:pt x="57274" y="126380"/>
                </a:lnTo>
                <a:cubicBezTo>
                  <a:pt x="45665" y="121543"/>
                  <a:pt x="33213" y="119063"/>
                  <a:pt x="20638" y="119063"/>
                </a:cubicBezTo>
                <a:lnTo>
                  <a:pt x="11906" y="119063"/>
                </a:lnTo>
                <a:cubicBezTo>
                  <a:pt x="5333" y="119063"/>
                  <a:pt x="0" y="113729"/>
                  <a:pt x="0" y="107156"/>
                </a:cubicBezTo>
                <a:lnTo>
                  <a:pt x="0" y="19844"/>
                </a:lnTo>
                <a:cubicBezTo>
                  <a:pt x="0" y="13271"/>
                  <a:pt x="5333" y="7938"/>
                  <a:pt x="11906" y="7938"/>
                </a:cubicBezTo>
                <a:lnTo>
                  <a:pt x="20638" y="7938"/>
                </a:lnTo>
                <a:cubicBezTo>
                  <a:pt x="33213" y="7938"/>
                  <a:pt x="45665" y="10418"/>
                  <a:pt x="57274" y="15255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5" name="Text 33"/>
          <p:cNvSpPr/>
          <p:nvPr/>
        </p:nvSpPr>
        <p:spPr>
          <a:xfrm>
            <a:off x="6540500" y="311150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知识检索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1750" y="333375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治理规范、决策记录快速查找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17500" y="3841750"/>
            <a:ext cx="5715000" cy="2571750"/>
          </a:xfrm>
          <a:custGeom>
            <a:avLst/>
            <a:gdLst/>
            <a:ahLst/>
            <a:cxnLst/>
            <a:rect l="l" t="t" r="r" b="b"/>
            <a:pathLst>
              <a:path w="5715000" h="2571750">
                <a:moveTo>
                  <a:pt x="63497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508253"/>
                </a:lnTo>
                <a:cubicBezTo>
                  <a:pt x="5715000" y="2543322"/>
                  <a:pt x="5686572" y="2571750"/>
                  <a:pt x="5651503" y="2571750"/>
                </a:cubicBezTo>
                <a:lnTo>
                  <a:pt x="63497" y="2571750"/>
                </a:lnTo>
                <a:cubicBezTo>
                  <a:pt x="28428" y="2571750"/>
                  <a:pt x="0" y="2543322"/>
                  <a:pt x="0" y="25082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38" name="Shape 36"/>
          <p:cNvSpPr/>
          <p:nvPr/>
        </p:nvSpPr>
        <p:spPr>
          <a:xfrm>
            <a:off x="444500" y="396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39" name="Shape 37"/>
          <p:cNvSpPr/>
          <p:nvPr/>
        </p:nvSpPr>
        <p:spPr>
          <a:xfrm>
            <a:off x="575469" y="40798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37207" y="79375"/>
                </a:moveTo>
                <a:cubicBezTo>
                  <a:pt x="33083" y="79375"/>
                  <a:pt x="29766" y="82693"/>
                  <a:pt x="29766" y="86816"/>
                </a:cubicBezTo>
                <a:cubicBezTo>
                  <a:pt x="29766" y="90940"/>
                  <a:pt x="33083" y="94258"/>
                  <a:pt x="37207" y="94258"/>
                </a:cubicBezTo>
                <a:lnTo>
                  <a:pt x="81855" y="94258"/>
                </a:lnTo>
                <a:cubicBezTo>
                  <a:pt x="85979" y="94258"/>
                  <a:pt x="89297" y="90940"/>
                  <a:pt x="89297" y="86816"/>
                </a:cubicBezTo>
                <a:cubicBezTo>
                  <a:pt x="89297" y="82693"/>
                  <a:pt x="85979" y="79375"/>
                  <a:pt x="81855" y="79375"/>
                </a:cubicBezTo>
                <a:lnTo>
                  <a:pt x="37207" y="79375"/>
                </a:lnTo>
                <a:close/>
                <a:moveTo>
                  <a:pt x="37207" y="109141"/>
                </a:moveTo>
                <a:cubicBezTo>
                  <a:pt x="33083" y="109141"/>
                  <a:pt x="29766" y="112458"/>
                  <a:pt x="29766" y="116582"/>
                </a:cubicBezTo>
                <a:cubicBezTo>
                  <a:pt x="29766" y="120706"/>
                  <a:pt x="33083" y="124023"/>
                  <a:pt x="37207" y="124023"/>
                </a:cubicBezTo>
                <a:lnTo>
                  <a:pt x="81855" y="124023"/>
                </a:lnTo>
                <a:cubicBezTo>
                  <a:pt x="85979" y="124023"/>
                  <a:pt x="89297" y="120706"/>
                  <a:pt x="89297" y="116582"/>
                </a:cubicBezTo>
                <a:cubicBezTo>
                  <a:pt x="89297" y="112458"/>
                  <a:pt x="85979" y="109141"/>
                  <a:pt x="81855" y="109141"/>
                </a:cubicBezTo>
                <a:lnTo>
                  <a:pt x="37207" y="10914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920750" y="4032250"/>
            <a:ext cx="857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分析报告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4500" y="4445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555625" y="4572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8847" y="3026"/>
                </a:moveTo>
                <a:lnTo>
                  <a:pt x="76969" y="24904"/>
                </a:lnTo>
                <a:lnTo>
                  <a:pt x="102096" y="50031"/>
                </a:lnTo>
                <a:lnTo>
                  <a:pt x="123974" y="28153"/>
                </a:lnTo>
                <a:cubicBezTo>
                  <a:pt x="125909" y="26194"/>
                  <a:pt x="127000" y="23564"/>
                  <a:pt x="127000" y="20836"/>
                </a:cubicBezTo>
                <a:cubicBezTo>
                  <a:pt x="127000" y="18107"/>
                  <a:pt x="125909" y="15478"/>
                  <a:pt x="123974" y="13519"/>
                </a:cubicBezTo>
                <a:lnTo>
                  <a:pt x="113481" y="3026"/>
                </a:lnTo>
                <a:cubicBezTo>
                  <a:pt x="111522" y="1091"/>
                  <a:pt x="108893" y="0"/>
                  <a:pt x="106164" y="0"/>
                </a:cubicBezTo>
                <a:cubicBezTo>
                  <a:pt x="103436" y="0"/>
                  <a:pt x="100806" y="1091"/>
                  <a:pt x="98847" y="3026"/>
                </a:cubicBezTo>
                <a:close/>
                <a:moveTo>
                  <a:pt x="68560" y="33313"/>
                </a:moveTo>
                <a:lnTo>
                  <a:pt x="3026" y="98847"/>
                </a:lnTo>
                <a:cubicBezTo>
                  <a:pt x="1091" y="100806"/>
                  <a:pt x="0" y="103436"/>
                  <a:pt x="0" y="106164"/>
                </a:cubicBezTo>
                <a:cubicBezTo>
                  <a:pt x="0" y="108893"/>
                  <a:pt x="1091" y="111522"/>
                  <a:pt x="3026" y="113481"/>
                </a:cubicBezTo>
                <a:lnTo>
                  <a:pt x="13519" y="123974"/>
                </a:lnTo>
                <a:cubicBezTo>
                  <a:pt x="15478" y="125909"/>
                  <a:pt x="18107" y="127000"/>
                  <a:pt x="20836" y="127000"/>
                </a:cubicBezTo>
                <a:cubicBezTo>
                  <a:pt x="23564" y="127000"/>
                  <a:pt x="26194" y="125909"/>
                  <a:pt x="28153" y="123974"/>
                </a:cubicBezTo>
                <a:lnTo>
                  <a:pt x="93687" y="58440"/>
                </a:lnTo>
                <a:lnTo>
                  <a:pt x="68560" y="33313"/>
                </a:lnTo>
                <a:close/>
              </a:path>
            </a:pathLst>
          </a:custGeom>
          <a:solidFill>
            <a:srgbClr val="B48EAD"/>
          </a:solidFill>
        </p:spPr>
      </p:sp>
      <p:sp>
        <p:nvSpPr>
          <p:cNvPr id="43" name="Text 41"/>
          <p:cNvSpPr/>
          <p:nvPr/>
        </p:nvSpPr>
        <p:spPr>
          <a:xfrm>
            <a:off x="698500" y="4540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一键生成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9750" y="4762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PDF/HTML 格式治理报告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4500" y="5080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Shape 44"/>
          <p:cNvSpPr/>
          <p:nvPr/>
        </p:nvSpPr>
        <p:spPr>
          <a:xfrm>
            <a:off x="547688" y="52070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15875"/>
                </a:moveTo>
                <a:cubicBezTo>
                  <a:pt x="97730" y="15875"/>
                  <a:pt x="119063" y="37207"/>
                  <a:pt x="119063" y="63500"/>
                </a:cubicBezTo>
                <a:cubicBezTo>
                  <a:pt x="119063" y="89793"/>
                  <a:pt x="97730" y="111125"/>
                  <a:pt x="71438" y="111125"/>
                </a:cubicBezTo>
                <a:cubicBezTo>
                  <a:pt x="55265" y="111125"/>
                  <a:pt x="40953" y="103063"/>
                  <a:pt x="32345" y="90711"/>
                </a:cubicBezTo>
                <a:cubicBezTo>
                  <a:pt x="29840" y="87114"/>
                  <a:pt x="24879" y="86246"/>
                  <a:pt x="21282" y="88751"/>
                </a:cubicBezTo>
                <a:cubicBezTo>
                  <a:pt x="17686" y="91256"/>
                  <a:pt x="16818" y="96217"/>
                  <a:pt x="19323" y="99814"/>
                </a:cubicBezTo>
                <a:cubicBezTo>
                  <a:pt x="30783" y="116235"/>
                  <a:pt x="49857" y="127000"/>
                  <a:pt x="71438" y="127000"/>
                </a:cubicBezTo>
                <a:cubicBezTo>
                  <a:pt x="106511" y="127000"/>
                  <a:pt x="134938" y="98574"/>
                  <a:pt x="134938" y="63500"/>
                </a:cubicBezTo>
                <a:cubicBezTo>
                  <a:pt x="134938" y="28426"/>
                  <a:pt x="106511" y="0"/>
                  <a:pt x="71438" y="0"/>
                </a:cubicBezTo>
                <a:cubicBezTo>
                  <a:pt x="50180" y="0"/>
                  <a:pt x="31378" y="10443"/>
                  <a:pt x="19844" y="26467"/>
                </a:cubicBezTo>
                <a:lnTo>
                  <a:pt x="19844" y="19844"/>
                </a:lnTo>
                <a:cubicBezTo>
                  <a:pt x="19844" y="15453"/>
                  <a:pt x="16297" y="11906"/>
                  <a:pt x="11906" y="11906"/>
                </a:cubicBezTo>
                <a:cubicBezTo>
                  <a:pt x="7516" y="11906"/>
                  <a:pt x="3969" y="15453"/>
                  <a:pt x="3969" y="19844"/>
                </a:cubicBezTo>
                <a:lnTo>
                  <a:pt x="3969" y="47625"/>
                </a:lnTo>
                <a:cubicBezTo>
                  <a:pt x="3969" y="52015"/>
                  <a:pt x="7516" y="55563"/>
                  <a:pt x="11906" y="55563"/>
                </a:cubicBezTo>
                <a:lnTo>
                  <a:pt x="18008" y="55563"/>
                </a:lnTo>
                <a:cubicBezTo>
                  <a:pt x="18132" y="55563"/>
                  <a:pt x="18256" y="55563"/>
                  <a:pt x="18380" y="55563"/>
                </a:cubicBezTo>
                <a:lnTo>
                  <a:pt x="39712" y="55563"/>
                </a:lnTo>
                <a:cubicBezTo>
                  <a:pt x="44103" y="55563"/>
                  <a:pt x="47650" y="52015"/>
                  <a:pt x="47650" y="47625"/>
                </a:cubicBezTo>
                <a:cubicBezTo>
                  <a:pt x="47650" y="43235"/>
                  <a:pt x="44103" y="39688"/>
                  <a:pt x="39712" y="39688"/>
                </a:cubicBezTo>
                <a:lnTo>
                  <a:pt x="30212" y="39688"/>
                </a:lnTo>
                <a:cubicBezTo>
                  <a:pt x="38422" y="25450"/>
                  <a:pt x="53826" y="15875"/>
                  <a:pt x="71438" y="15875"/>
                </a:cubicBezTo>
                <a:close/>
                <a:moveTo>
                  <a:pt x="77391" y="37703"/>
                </a:moveTo>
                <a:cubicBezTo>
                  <a:pt x="77391" y="34404"/>
                  <a:pt x="74737" y="31750"/>
                  <a:pt x="71438" y="31750"/>
                </a:cubicBezTo>
                <a:cubicBezTo>
                  <a:pt x="68138" y="31750"/>
                  <a:pt x="65484" y="34404"/>
                  <a:pt x="65484" y="37703"/>
                </a:cubicBezTo>
                <a:lnTo>
                  <a:pt x="65484" y="63500"/>
                </a:lnTo>
                <a:cubicBezTo>
                  <a:pt x="65484" y="65088"/>
                  <a:pt x="66104" y="66601"/>
                  <a:pt x="67221" y="67717"/>
                </a:cubicBezTo>
                <a:lnTo>
                  <a:pt x="85080" y="85576"/>
                </a:lnTo>
                <a:cubicBezTo>
                  <a:pt x="87412" y="87908"/>
                  <a:pt x="91182" y="87908"/>
                  <a:pt x="93489" y="85576"/>
                </a:cubicBezTo>
                <a:cubicBezTo>
                  <a:pt x="95796" y="83245"/>
                  <a:pt x="95821" y="79474"/>
                  <a:pt x="93489" y="77167"/>
                </a:cubicBezTo>
                <a:lnTo>
                  <a:pt x="77366" y="61044"/>
                </a:lnTo>
                <a:lnTo>
                  <a:pt x="77366" y="37703"/>
                </a:lnTo>
                <a:close/>
              </a:path>
            </a:pathLst>
          </a:custGeom>
          <a:solidFill>
            <a:srgbClr val="B48EAD"/>
          </a:solidFill>
        </p:spPr>
      </p:sp>
      <p:sp>
        <p:nvSpPr>
          <p:cNvPr id="47" name="Text 45"/>
          <p:cNvSpPr/>
          <p:nvPr/>
        </p:nvSpPr>
        <p:spPr>
          <a:xfrm>
            <a:off x="698500" y="5175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版本快照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750" y="5397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支持历史版本对比与回溯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4500" y="5715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Shape 48"/>
          <p:cNvSpPr/>
          <p:nvPr/>
        </p:nvSpPr>
        <p:spPr>
          <a:xfrm>
            <a:off x="555625" y="5842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5250" y="47625"/>
                </a:moveTo>
                <a:cubicBezTo>
                  <a:pt x="108396" y="47625"/>
                  <a:pt x="119063" y="36959"/>
                  <a:pt x="119063" y="23812"/>
                </a:cubicBezTo>
                <a:cubicBezTo>
                  <a:pt x="119063" y="10666"/>
                  <a:pt x="108396" y="0"/>
                  <a:pt x="95250" y="0"/>
                </a:cubicBezTo>
                <a:cubicBezTo>
                  <a:pt x="82104" y="0"/>
                  <a:pt x="71438" y="10666"/>
                  <a:pt x="71438" y="23812"/>
                </a:cubicBezTo>
                <a:cubicBezTo>
                  <a:pt x="71438" y="25152"/>
                  <a:pt x="71562" y="26491"/>
                  <a:pt x="71760" y="27781"/>
                </a:cubicBezTo>
                <a:lnTo>
                  <a:pt x="39588" y="45665"/>
                </a:lnTo>
                <a:cubicBezTo>
                  <a:pt x="35396" y="41945"/>
                  <a:pt x="29865" y="39688"/>
                  <a:pt x="23812" y="39688"/>
                </a:cubicBezTo>
                <a:cubicBezTo>
                  <a:pt x="10666" y="39688"/>
                  <a:pt x="0" y="50354"/>
                  <a:pt x="0" y="63500"/>
                </a:cubicBezTo>
                <a:cubicBezTo>
                  <a:pt x="0" y="76646"/>
                  <a:pt x="10666" y="87313"/>
                  <a:pt x="23812" y="87313"/>
                </a:cubicBezTo>
                <a:cubicBezTo>
                  <a:pt x="29865" y="87313"/>
                  <a:pt x="35371" y="85055"/>
                  <a:pt x="39588" y="81335"/>
                </a:cubicBezTo>
                <a:lnTo>
                  <a:pt x="71760" y="99219"/>
                </a:lnTo>
                <a:cubicBezTo>
                  <a:pt x="71537" y="100509"/>
                  <a:pt x="71438" y="101823"/>
                  <a:pt x="71438" y="103188"/>
                </a:cubicBezTo>
                <a:cubicBezTo>
                  <a:pt x="71438" y="116334"/>
                  <a:pt x="82104" y="127000"/>
                  <a:pt x="95250" y="127000"/>
                </a:cubicBezTo>
                <a:cubicBezTo>
                  <a:pt x="108396" y="127000"/>
                  <a:pt x="119063" y="116334"/>
                  <a:pt x="119063" y="103188"/>
                </a:cubicBezTo>
                <a:cubicBezTo>
                  <a:pt x="119063" y="90041"/>
                  <a:pt x="108396" y="79375"/>
                  <a:pt x="95250" y="79375"/>
                </a:cubicBezTo>
                <a:cubicBezTo>
                  <a:pt x="89198" y="79375"/>
                  <a:pt x="83691" y="81632"/>
                  <a:pt x="79474" y="85353"/>
                </a:cubicBezTo>
                <a:lnTo>
                  <a:pt x="47303" y="67469"/>
                </a:lnTo>
                <a:cubicBezTo>
                  <a:pt x="47526" y="66179"/>
                  <a:pt x="47625" y="64864"/>
                  <a:pt x="47625" y="63500"/>
                </a:cubicBezTo>
                <a:cubicBezTo>
                  <a:pt x="47625" y="62136"/>
                  <a:pt x="47501" y="60821"/>
                  <a:pt x="47303" y="59531"/>
                </a:cubicBezTo>
                <a:lnTo>
                  <a:pt x="79474" y="41647"/>
                </a:lnTo>
                <a:cubicBezTo>
                  <a:pt x="83666" y="45368"/>
                  <a:pt x="89198" y="47625"/>
                  <a:pt x="95250" y="47625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51" name="Text 49"/>
          <p:cNvSpPr/>
          <p:nvPr/>
        </p:nvSpPr>
        <p:spPr>
          <a:xfrm>
            <a:off x="698500" y="5810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便捷分享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9750" y="6032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报告可下载、可共享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59500" y="3841750"/>
            <a:ext cx="5715000" cy="2571750"/>
          </a:xfrm>
          <a:custGeom>
            <a:avLst/>
            <a:gdLst/>
            <a:ahLst/>
            <a:cxnLst/>
            <a:rect l="l" t="t" r="r" b="b"/>
            <a:pathLst>
              <a:path w="5715000" h="2571750">
                <a:moveTo>
                  <a:pt x="63497" y="0"/>
                </a:moveTo>
                <a:lnTo>
                  <a:pt x="5651503" y="0"/>
                </a:lnTo>
                <a:cubicBezTo>
                  <a:pt x="5686572" y="0"/>
                  <a:pt x="5715000" y="28428"/>
                  <a:pt x="5715000" y="63497"/>
                </a:cubicBezTo>
                <a:lnTo>
                  <a:pt x="5715000" y="2508253"/>
                </a:lnTo>
                <a:cubicBezTo>
                  <a:pt x="5715000" y="2543322"/>
                  <a:pt x="5686572" y="2571750"/>
                  <a:pt x="5651503" y="2571750"/>
                </a:cubicBezTo>
                <a:lnTo>
                  <a:pt x="63497" y="2571750"/>
                </a:lnTo>
                <a:cubicBezTo>
                  <a:pt x="28428" y="2571750"/>
                  <a:pt x="0" y="2543322"/>
                  <a:pt x="0" y="25082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54" name="Shape 52"/>
          <p:cNvSpPr/>
          <p:nvPr/>
        </p:nvSpPr>
        <p:spPr>
          <a:xfrm>
            <a:off x="6286500" y="396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5" name="Shape 53"/>
          <p:cNvSpPr/>
          <p:nvPr/>
        </p:nvSpPr>
        <p:spPr>
          <a:xfrm>
            <a:off x="6377781" y="4079875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6762750" y="4032250"/>
            <a:ext cx="1047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自动化任务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86500" y="4445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Shape 56"/>
          <p:cNvSpPr/>
          <p:nvPr/>
        </p:nvSpPr>
        <p:spPr>
          <a:xfrm>
            <a:off x="6397625" y="4572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87" y="47625"/>
                </a:moveTo>
                <a:lnTo>
                  <a:pt x="121047" y="47625"/>
                </a:lnTo>
                <a:cubicBezTo>
                  <a:pt x="124346" y="47625"/>
                  <a:pt x="127000" y="44971"/>
                  <a:pt x="127000" y="41672"/>
                </a:cubicBezTo>
                <a:lnTo>
                  <a:pt x="127000" y="5953"/>
                </a:lnTo>
                <a:cubicBezTo>
                  <a:pt x="127000" y="3547"/>
                  <a:pt x="125561" y="1364"/>
                  <a:pt x="123329" y="446"/>
                </a:cubicBezTo>
                <a:cubicBezTo>
                  <a:pt x="121096" y="-471"/>
                  <a:pt x="118542" y="50"/>
                  <a:pt x="116830" y="1736"/>
                </a:cubicBezTo>
                <a:lnTo>
                  <a:pt x="104006" y="14585"/>
                </a:lnTo>
                <a:cubicBezTo>
                  <a:pt x="93018" y="5482"/>
                  <a:pt x="78879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ubicBezTo>
                  <a:pt x="19645" y="33610"/>
                  <a:pt x="39514" y="15875"/>
                  <a:pt x="63500" y="15875"/>
                </a:cubicBezTo>
                <a:cubicBezTo>
                  <a:pt x="74513" y="15875"/>
                  <a:pt x="84634" y="19596"/>
                  <a:pt x="92695" y="25871"/>
                </a:cubicBezTo>
                <a:lnTo>
                  <a:pt x="81111" y="37455"/>
                </a:lnTo>
                <a:cubicBezTo>
                  <a:pt x="79400" y="39167"/>
                  <a:pt x="78904" y="41721"/>
                  <a:pt x="79821" y="43954"/>
                </a:cubicBezTo>
                <a:cubicBezTo>
                  <a:pt x="80739" y="46186"/>
                  <a:pt x="82922" y="47625"/>
                  <a:pt x="85328" y="47625"/>
                </a:cubicBezTo>
                <a:lnTo>
                  <a:pt x="119087" y="47625"/>
                </a:lnTo>
                <a:close/>
                <a:moveTo>
                  <a:pt x="126380" y="72554"/>
                </a:moveTo>
                <a:cubicBezTo>
                  <a:pt x="127000" y="68213"/>
                  <a:pt x="123974" y="64195"/>
                  <a:pt x="119658" y="63574"/>
                </a:cubicBezTo>
                <a:cubicBezTo>
                  <a:pt x="115342" y="62954"/>
                  <a:pt x="111299" y="65980"/>
                  <a:pt x="110679" y="70296"/>
                </a:cubicBezTo>
                <a:cubicBezTo>
                  <a:pt x="107379" y="93365"/>
                  <a:pt x="87511" y="111100"/>
                  <a:pt x="63525" y="111100"/>
                </a:cubicBezTo>
                <a:cubicBezTo>
                  <a:pt x="52512" y="111100"/>
                  <a:pt x="42391" y="107379"/>
                  <a:pt x="34330" y="101104"/>
                </a:cubicBezTo>
                <a:lnTo>
                  <a:pt x="45889" y="89545"/>
                </a:lnTo>
                <a:cubicBezTo>
                  <a:pt x="47600" y="87833"/>
                  <a:pt x="48096" y="85279"/>
                  <a:pt x="47179" y="83046"/>
                </a:cubicBezTo>
                <a:cubicBezTo>
                  <a:pt x="46261" y="80814"/>
                  <a:pt x="44078" y="79375"/>
                  <a:pt x="41672" y="79375"/>
                </a:cubicBezTo>
                <a:lnTo>
                  <a:pt x="5953" y="79375"/>
                </a:lnTo>
                <a:cubicBezTo>
                  <a:pt x="2654" y="79375"/>
                  <a:pt x="0" y="82029"/>
                  <a:pt x="0" y="85328"/>
                </a:cubicBezTo>
                <a:lnTo>
                  <a:pt x="0" y="121047"/>
                </a:lnTo>
                <a:cubicBezTo>
                  <a:pt x="0" y="123453"/>
                  <a:pt x="1439" y="125636"/>
                  <a:pt x="3671" y="126554"/>
                </a:cubicBezTo>
                <a:cubicBezTo>
                  <a:pt x="5904" y="127471"/>
                  <a:pt x="8458" y="126950"/>
                  <a:pt x="10170" y="125264"/>
                </a:cubicBezTo>
                <a:lnTo>
                  <a:pt x="23019" y="112415"/>
                </a:lnTo>
                <a:cubicBezTo>
                  <a:pt x="33982" y="121518"/>
                  <a:pt x="48121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59" name="Text 57"/>
          <p:cNvSpPr/>
          <p:nvPr/>
        </p:nvSpPr>
        <p:spPr>
          <a:xfrm>
            <a:off x="6540500" y="4540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定时同步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1750" y="4762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GitHub/Gitee 数据自动同步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86500" y="5080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Shape 60"/>
          <p:cNvSpPr/>
          <p:nvPr/>
        </p:nvSpPr>
        <p:spPr>
          <a:xfrm>
            <a:off x="6405563" y="5207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0"/>
                </a:moveTo>
                <a:cubicBezTo>
                  <a:pt x="36140" y="0"/>
                  <a:pt x="39688" y="3547"/>
                  <a:pt x="39688" y="7938"/>
                </a:cubicBezTo>
                <a:lnTo>
                  <a:pt x="39688" y="15875"/>
                </a:lnTo>
                <a:lnTo>
                  <a:pt x="71438" y="15875"/>
                </a:lnTo>
                <a:lnTo>
                  <a:pt x="71438" y="7938"/>
                </a:lnTo>
                <a:cubicBezTo>
                  <a:pt x="71438" y="3547"/>
                  <a:pt x="74985" y="0"/>
                  <a:pt x="79375" y="0"/>
                </a:cubicBezTo>
                <a:cubicBezTo>
                  <a:pt x="83765" y="0"/>
                  <a:pt x="87313" y="3547"/>
                  <a:pt x="87313" y="7938"/>
                </a:cubicBezTo>
                <a:lnTo>
                  <a:pt x="87313" y="15875"/>
                </a:lnTo>
                <a:lnTo>
                  <a:pt x="95250" y="15875"/>
                </a:lnTo>
                <a:cubicBezTo>
                  <a:pt x="104006" y="15875"/>
                  <a:pt x="111125" y="22994"/>
                  <a:pt x="111125" y="31750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1750"/>
                </a:lnTo>
                <a:cubicBezTo>
                  <a:pt x="0" y="22994"/>
                  <a:pt x="7119" y="15875"/>
                  <a:pt x="15875" y="15875"/>
                </a:cubicBezTo>
                <a:lnTo>
                  <a:pt x="23812" y="15875"/>
                </a:lnTo>
                <a:lnTo>
                  <a:pt x="23812" y="7938"/>
                </a:lnTo>
                <a:cubicBezTo>
                  <a:pt x="23812" y="3547"/>
                  <a:pt x="27360" y="0"/>
                  <a:pt x="31750" y="0"/>
                </a:cubicBezTo>
                <a:close/>
                <a:moveTo>
                  <a:pt x="15875" y="59531"/>
                </a:moveTo>
                <a:lnTo>
                  <a:pt x="15875" y="67469"/>
                </a:lnTo>
                <a:cubicBezTo>
                  <a:pt x="15875" y="69652"/>
                  <a:pt x="17661" y="71438"/>
                  <a:pt x="19844" y="71438"/>
                </a:cubicBezTo>
                <a:lnTo>
                  <a:pt x="27781" y="71438"/>
                </a:lnTo>
                <a:cubicBezTo>
                  <a:pt x="29964" y="71438"/>
                  <a:pt x="31750" y="69652"/>
                  <a:pt x="31750" y="67469"/>
                </a:cubicBezTo>
                <a:lnTo>
                  <a:pt x="31750" y="59531"/>
                </a:lnTo>
                <a:cubicBezTo>
                  <a:pt x="31750" y="57348"/>
                  <a:pt x="29964" y="55563"/>
                  <a:pt x="27781" y="55563"/>
                </a:cubicBezTo>
                <a:lnTo>
                  <a:pt x="19844" y="55563"/>
                </a:lnTo>
                <a:cubicBezTo>
                  <a:pt x="17661" y="55563"/>
                  <a:pt x="15875" y="57348"/>
                  <a:pt x="15875" y="59531"/>
                </a:cubicBezTo>
                <a:close/>
                <a:moveTo>
                  <a:pt x="47625" y="59531"/>
                </a:moveTo>
                <a:lnTo>
                  <a:pt x="47625" y="67469"/>
                </a:lnTo>
                <a:cubicBezTo>
                  <a:pt x="47625" y="69652"/>
                  <a:pt x="49411" y="71438"/>
                  <a:pt x="51594" y="71438"/>
                </a:cubicBezTo>
                <a:lnTo>
                  <a:pt x="59531" y="71438"/>
                </a:lnTo>
                <a:cubicBezTo>
                  <a:pt x="61714" y="71438"/>
                  <a:pt x="63500" y="69652"/>
                  <a:pt x="63500" y="67469"/>
                </a:cubicBezTo>
                <a:lnTo>
                  <a:pt x="63500" y="59531"/>
                </a:lnTo>
                <a:cubicBezTo>
                  <a:pt x="63500" y="57348"/>
                  <a:pt x="61714" y="55563"/>
                  <a:pt x="59531" y="55563"/>
                </a:cubicBezTo>
                <a:lnTo>
                  <a:pt x="51594" y="55563"/>
                </a:lnTo>
                <a:cubicBezTo>
                  <a:pt x="49411" y="55563"/>
                  <a:pt x="47625" y="57348"/>
                  <a:pt x="47625" y="59531"/>
                </a:cubicBezTo>
                <a:close/>
                <a:moveTo>
                  <a:pt x="83344" y="55563"/>
                </a:moveTo>
                <a:cubicBezTo>
                  <a:pt x="81161" y="55563"/>
                  <a:pt x="79375" y="57348"/>
                  <a:pt x="79375" y="59531"/>
                </a:cubicBezTo>
                <a:lnTo>
                  <a:pt x="79375" y="67469"/>
                </a:lnTo>
                <a:cubicBezTo>
                  <a:pt x="79375" y="69652"/>
                  <a:pt x="81161" y="71438"/>
                  <a:pt x="83344" y="71438"/>
                </a:cubicBezTo>
                <a:lnTo>
                  <a:pt x="91281" y="71438"/>
                </a:lnTo>
                <a:cubicBezTo>
                  <a:pt x="93464" y="71438"/>
                  <a:pt x="95250" y="69652"/>
                  <a:pt x="95250" y="67469"/>
                </a:cubicBezTo>
                <a:lnTo>
                  <a:pt x="95250" y="59531"/>
                </a:lnTo>
                <a:cubicBezTo>
                  <a:pt x="95250" y="57348"/>
                  <a:pt x="93464" y="55563"/>
                  <a:pt x="91281" y="55563"/>
                </a:cubicBezTo>
                <a:lnTo>
                  <a:pt x="83344" y="55563"/>
                </a:lnTo>
                <a:close/>
                <a:moveTo>
                  <a:pt x="15875" y="91281"/>
                </a:move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27781" y="103188"/>
                </a:lnTo>
                <a:cubicBezTo>
                  <a:pt x="29964" y="103188"/>
                  <a:pt x="31750" y="101402"/>
                  <a:pt x="31750" y="99219"/>
                </a:cubicBezTo>
                <a:lnTo>
                  <a:pt x="31750" y="91281"/>
                </a:lnTo>
                <a:cubicBezTo>
                  <a:pt x="31750" y="89098"/>
                  <a:pt x="29964" y="87313"/>
                  <a:pt x="27781" y="87313"/>
                </a:cubicBezTo>
                <a:lnTo>
                  <a:pt x="19844" y="87313"/>
                </a:lnTo>
                <a:cubicBezTo>
                  <a:pt x="17661" y="87313"/>
                  <a:pt x="15875" y="89098"/>
                  <a:pt x="15875" y="91281"/>
                </a:cubicBezTo>
                <a:close/>
                <a:moveTo>
                  <a:pt x="51594" y="87313"/>
                </a:moveTo>
                <a:cubicBezTo>
                  <a:pt x="49411" y="87313"/>
                  <a:pt x="47625" y="89098"/>
                  <a:pt x="47625" y="91281"/>
                </a:cubicBezTo>
                <a:lnTo>
                  <a:pt x="47625" y="99219"/>
                </a:lnTo>
                <a:cubicBezTo>
                  <a:pt x="47625" y="101402"/>
                  <a:pt x="49411" y="103188"/>
                  <a:pt x="51594" y="103188"/>
                </a:cubicBezTo>
                <a:lnTo>
                  <a:pt x="59531" y="103188"/>
                </a:lnTo>
                <a:cubicBezTo>
                  <a:pt x="61714" y="103188"/>
                  <a:pt x="63500" y="101402"/>
                  <a:pt x="63500" y="99219"/>
                </a:cubicBezTo>
                <a:lnTo>
                  <a:pt x="63500" y="91281"/>
                </a:lnTo>
                <a:cubicBezTo>
                  <a:pt x="63500" y="89098"/>
                  <a:pt x="61714" y="87313"/>
                  <a:pt x="59531" y="87313"/>
                </a:cubicBezTo>
                <a:lnTo>
                  <a:pt x="51594" y="87313"/>
                </a:lnTo>
                <a:close/>
                <a:moveTo>
                  <a:pt x="79375" y="91281"/>
                </a:moveTo>
                <a:lnTo>
                  <a:pt x="79375" y="99219"/>
                </a:lnTo>
                <a:cubicBezTo>
                  <a:pt x="79375" y="101402"/>
                  <a:pt x="81161" y="103188"/>
                  <a:pt x="83344" y="103188"/>
                </a:cubicBezTo>
                <a:lnTo>
                  <a:pt x="91281" y="103188"/>
                </a:lnTo>
                <a:cubicBezTo>
                  <a:pt x="93464" y="103188"/>
                  <a:pt x="95250" y="101402"/>
                  <a:pt x="95250" y="99219"/>
                </a:cubicBezTo>
                <a:lnTo>
                  <a:pt x="95250" y="91281"/>
                </a:lnTo>
                <a:cubicBezTo>
                  <a:pt x="95250" y="89098"/>
                  <a:pt x="93464" y="87313"/>
                  <a:pt x="91281" y="87313"/>
                </a:cubicBezTo>
                <a:lnTo>
                  <a:pt x="83344" y="87313"/>
                </a:lnTo>
                <a:cubicBezTo>
                  <a:pt x="81161" y="87313"/>
                  <a:pt x="79375" y="89098"/>
                  <a:pt x="79375" y="91281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63" name="Text 61"/>
          <p:cNvSpPr/>
          <p:nvPr/>
        </p:nvSpPr>
        <p:spPr>
          <a:xfrm>
            <a:off x="6540500" y="5175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周期报告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81750" y="5397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周报/月报自动生成与推送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86500" y="5715000"/>
            <a:ext cx="5461000" cy="571500"/>
          </a:xfrm>
          <a:custGeom>
            <a:avLst/>
            <a:gdLst/>
            <a:ahLst/>
            <a:cxnLst/>
            <a:rect l="l" t="t" r="r" b="b"/>
            <a:pathLst>
              <a:path w="5461000" h="571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508001"/>
                </a:lnTo>
                <a:cubicBezTo>
                  <a:pt x="5461000" y="543070"/>
                  <a:pt x="5432570" y="571500"/>
                  <a:pt x="539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6" name="Shape 64"/>
          <p:cNvSpPr/>
          <p:nvPr/>
        </p:nvSpPr>
        <p:spPr>
          <a:xfrm>
            <a:off x="6405563" y="5842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A3BE8C"/>
          </a:solidFill>
        </p:spPr>
      </p:sp>
      <p:sp>
        <p:nvSpPr>
          <p:cNvPr id="67" name="Text 65"/>
          <p:cNvSpPr/>
          <p:nvPr/>
        </p:nvSpPr>
        <p:spPr>
          <a:xfrm>
            <a:off x="6540500" y="581025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2E344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异常预警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81750" y="6032500"/>
            <a:ext cx="5326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可扩展通知(邮件/钉钉/企微)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17500" y="6540500"/>
            <a:ext cx="11557000" cy="730250"/>
          </a:xfrm>
          <a:custGeom>
            <a:avLst/>
            <a:gdLst/>
            <a:ahLst/>
            <a:cxnLst/>
            <a:rect l="l" t="t" r="r" b="b"/>
            <a:pathLst>
              <a:path w="11557000" h="730250">
                <a:moveTo>
                  <a:pt x="63503" y="0"/>
                </a:moveTo>
                <a:lnTo>
                  <a:pt x="11493497" y="0"/>
                </a:lnTo>
                <a:cubicBezTo>
                  <a:pt x="11528569" y="0"/>
                  <a:pt x="11557000" y="28431"/>
                  <a:pt x="11557000" y="63503"/>
                </a:cubicBezTo>
                <a:lnTo>
                  <a:pt x="11557000" y="666747"/>
                </a:lnTo>
                <a:cubicBezTo>
                  <a:pt x="11557000" y="701819"/>
                  <a:pt x="11528569" y="730250"/>
                  <a:pt x="1149349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2E3440"/>
          </a:solidFill>
        </p:spPr>
      </p:sp>
      <p:sp>
        <p:nvSpPr>
          <p:cNvPr id="70" name="Text 68"/>
          <p:cNvSpPr/>
          <p:nvPr/>
        </p:nvSpPr>
        <p:spPr>
          <a:xfrm>
            <a:off x="404813" y="6667500"/>
            <a:ext cx="11382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统一入口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12750" y="6953250"/>
            <a:ext cx="1136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将</a:t>
            </a:r>
            <a:r>
              <a:rPr lang="en-US" sz="10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"看板(数据)"</a:t>
            </a: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和</a:t>
            </a:r>
            <a:r>
              <a:rPr lang="en-US" sz="10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"问答(知识)"</a:t>
            </a:r>
            <a:r>
              <a:rPr lang="en-US" sz="1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统一在一个入口，最终输出</a:t>
            </a:r>
            <a:r>
              <a:rPr lang="en-US" sz="10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"报告(可交付)"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838200"/>
            <a:ext cx="11525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1AC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为什么我们是"治理产品"而非"数据统计"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" name="Shape 3"/>
          <p:cNvSpPr/>
          <p:nvPr/>
        </p:nvSpPr>
        <p:spPr>
          <a:xfrm>
            <a:off x="400050" y="1371600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" name="Shape 5"/>
          <p:cNvSpPr/>
          <p:nvPr/>
        </p:nvSpPr>
        <p:spPr>
          <a:xfrm>
            <a:off x="6096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8001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371600" y="15621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治理视角建模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943100"/>
            <a:ext cx="10325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从</a:t>
            </a:r>
            <a:r>
              <a:rPr lang="en-US" sz="12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事件数据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上升到</a:t>
            </a:r>
            <a:r>
              <a:rPr lang="en-US" sz="12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"角色/决策/风险/成熟度"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的治理语义层，真正用治理语言解读数据。不只是统计代码提交量，而是识别"核心维护者负载""贡献者多样性""决策透明度"等治理关键指标。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81300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2" name="Shape 10"/>
          <p:cNvSpPr/>
          <p:nvPr/>
        </p:nvSpPr>
        <p:spPr>
          <a:xfrm>
            <a:off x="400050" y="27813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3" name="Shape 11"/>
          <p:cNvSpPr/>
          <p:nvPr/>
        </p:nvSpPr>
        <p:spPr>
          <a:xfrm>
            <a:off x="6096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4" name="Shape 12"/>
          <p:cNvSpPr/>
          <p:nvPr/>
        </p:nvSpPr>
        <p:spPr>
          <a:xfrm>
            <a:off x="785813" y="3162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371600" y="29718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证据链输出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352800"/>
            <a:ext cx="103251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MaxKB 让建议</a:t>
            </a:r>
            <a:r>
              <a:rPr lang="en-US" sz="1200" b="1" dirty="0">
                <a:solidFill>
                  <a:srgbClr val="88C0D0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可追溯、可复核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。每条治理建议都附带原文引用，避免纯主观输出。不再是"我觉得"，而是"根据 RFC-123 和社区决策记录"，让建议具备权威性与可验证性。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191000"/>
            <a:ext cx="11410950" cy="1009650"/>
          </a:xfrm>
          <a:custGeom>
            <a:avLst/>
            <a:gdLst/>
            <a:ahLst/>
            <a:cxnLst/>
            <a:rect l="l" t="t" r="r" b="b"/>
            <a:pathLst>
              <a:path w="11410950" h="1009650">
                <a:moveTo>
                  <a:pt x="3810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933452"/>
                </a:lnTo>
                <a:cubicBezTo>
                  <a:pt x="11410950" y="975535"/>
                  <a:pt x="11376835" y="1009650"/>
                  <a:pt x="113347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18" name="Shape 16"/>
          <p:cNvSpPr/>
          <p:nvPr/>
        </p:nvSpPr>
        <p:spPr>
          <a:xfrm>
            <a:off x="400050" y="419100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19" name="Shape 17"/>
          <p:cNvSpPr/>
          <p:nvPr/>
        </p:nvSpPr>
        <p:spPr>
          <a:xfrm>
            <a:off x="609600" y="4381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48EAD"/>
          </a:solidFill>
        </p:spPr>
      </p:sp>
      <p:sp>
        <p:nvSpPr>
          <p:cNvPr id="20" name="Shape 18"/>
          <p:cNvSpPr/>
          <p:nvPr/>
        </p:nvSpPr>
        <p:spPr>
          <a:xfrm>
            <a:off x="800100" y="457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371600" y="438150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自动化闭环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762500"/>
            <a:ext cx="10325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XXL-JOB 驱动</a:t>
            </a:r>
            <a:r>
              <a:rPr lang="en-US" sz="1200" b="1" dirty="0">
                <a:solidFill>
                  <a:srgbClr val="B48EAD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持续同步与周期报告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，形成"数据→指标→证据→建议→沉淀"的完整闭环。不是一次性的数据分析，而是持续的治理监控与优化。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0050" y="5353050"/>
            <a:ext cx="11410950" cy="1009650"/>
          </a:xfrm>
          <a:custGeom>
            <a:avLst/>
            <a:gdLst/>
            <a:ahLst/>
            <a:cxnLst/>
            <a:rect l="l" t="t" r="r" b="b"/>
            <a:pathLst>
              <a:path w="11410950" h="1009650">
                <a:moveTo>
                  <a:pt x="3810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933452"/>
                </a:lnTo>
                <a:cubicBezTo>
                  <a:pt x="11410950" y="975535"/>
                  <a:pt x="11376835" y="1009650"/>
                  <a:pt x="11334752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BF0F7"/>
          </a:solidFill>
        </p:spPr>
      </p:sp>
      <p:sp>
        <p:nvSpPr>
          <p:cNvPr id="24" name="Shape 22"/>
          <p:cNvSpPr/>
          <p:nvPr/>
        </p:nvSpPr>
        <p:spPr>
          <a:xfrm>
            <a:off x="400050" y="53530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5" name="Shape 23"/>
          <p:cNvSpPr/>
          <p:nvPr/>
        </p:nvSpPr>
        <p:spPr>
          <a:xfrm>
            <a:off x="609600" y="5543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3BE8C"/>
          </a:solidFill>
        </p:spPr>
      </p:sp>
      <p:sp>
        <p:nvSpPr>
          <p:cNvPr id="26" name="Shape 24"/>
          <p:cNvSpPr/>
          <p:nvPr/>
        </p:nvSpPr>
        <p:spPr>
          <a:xfrm>
            <a:off x="771525" y="57340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371600" y="5543550"/>
            <a:ext cx="10363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E344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工程可落地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924550"/>
            <a:ext cx="103251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多数据源、主从、监控链路、分布式锁</a:t>
            </a:r>
            <a:r>
              <a:rPr lang="en-US" sz="1200" dirty="0">
                <a:solidFill>
                  <a:srgbClr val="4C566A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保障稳定运行。不是 Demo 级别的原型，而是可部署、可扩展、可运维的生产级系统。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5" name="Shape 2"/>
          <p:cNvSpPr/>
          <p:nvPr/>
        </p:nvSpPr>
        <p:spPr>
          <a:xfrm>
            <a:off x="381000" y="1143000"/>
            <a:ext cx="3705225" cy="1295400"/>
          </a:xfrm>
          <a:custGeom>
            <a:avLst/>
            <a:gdLst/>
            <a:ahLst/>
            <a:cxnLst/>
            <a:rect l="l" t="t" r="r" b="b"/>
            <a:pathLst>
              <a:path w="3705225" h="1295400">
                <a:moveTo>
                  <a:pt x="76195" y="0"/>
                </a:moveTo>
                <a:lnTo>
                  <a:pt x="3629030" y="0"/>
                </a:lnTo>
                <a:cubicBezTo>
                  <a:pt x="3671083" y="0"/>
                  <a:pt x="3705225" y="34142"/>
                  <a:pt x="3705225" y="76195"/>
                </a:cubicBezTo>
                <a:lnTo>
                  <a:pt x="3705225" y="1219205"/>
                </a:lnTo>
                <a:cubicBezTo>
                  <a:pt x="3705225" y="1261286"/>
                  <a:pt x="3671111" y="1295400"/>
                  <a:pt x="36290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571500" y="1314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7" name="Text 4"/>
          <p:cNvSpPr/>
          <p:nvPr/>
        </p:nvSpPr>
        <p:spPr>
          <a:xfrm>
            <a:off x="533400" y="17145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OpenDigger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3400" y="20574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指标洞察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1800" y="1143000"/>
            <a:ext cx="3705225" cy="1295400"/>
          </a:xfrm>
          <a:custGeom>
            <a:avLst/>
            <a:gdLst/>
            <a:ahLst/>
            <a:cxnLst/>
            <a:rect l="l" t="t" r="r" b="b"/>
            <a:pathLst>
              <a:path w="3705225" h="1295400">
                <a:moveTo>
                  <a:pt x="76195" y="0"/>
                </a:moveTo>
                <a:lnTo>
                  <a:pt x="3629030" y="0"/>
                </a:lnTo>
                <a:cubicBezTo>
                  <a:pt x="3671083" y="0"/>
                  <a:pt x="3705225" y="34142"/>
                  <a:pt x="3705225" y="76195"/>
                </a:cubicBezTo>
                <a:lnTo>
                  <a:pt x="3705225" y="1219205"/>
                </a:lnTo>
                <a:cubicBezTo>
                  <a:pt x="3705225" y="1261286"/>
                  <a:pt x="3671111" y="1295400"/>
                  <a:pt x="36290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450159" y="13144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88C0D0"/>
          </a:solidFill>
        </p:spPr>
      </p:sp>
      <p:sp>
        <p:nvSpPr>
          <p:cNvPr id="11" name="Text 8"/>
          <p:cNvSpPr/>
          <p:nvPr/>
        </p:nvSpPr>
        <p:spPr>
          <a:xfrm>
            <a:off x="4394200" y="17145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MaxKB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94200" y="20574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知识证据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02600" y="1143000"/>
            <a:ext cx="3705225" cy="1295400"/>
          </a:xfrm>
          <a:custGeom>
            <a:avLst/>
            <a:gdLst/>
            <a:ahLst/>
            <a:cxnLst/>
            <a:rect l="l" t="t" r="r" b="b"/>
            <a:pathLst>
              <a:path w="3705225" h="1295400">
                <a:moveTo>
                  <a:pt x="76195" y="0"/>
                </a:moveTo>
                <a:lnTo>
                  <a:pt x="3629030" y="0"/>
                </a:lnTo>
                <a:cubicBezTo>
                  <a:pt x="3671083" y="0"/>
                  <a:pt x="3705225" y="34142"/>
                  <a:pt x="3705225" y="76195"/>
                </a:cubicBezTo>
                <a:lnTo>
                  <a:pt x="3705225" y="1219205"/>
                </a:lnTo>
                <a:cubicBezTo>
                  <a:pt x="3705225" y="1261286"/>
                  <a:pt x="3671111" y="1295400"/>
                  <a:pt x="36290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8310960" y="13144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89297"/>
                </a:lnTo>
                <a:cubicBezTo>
                  <a:pt x="0" y="108998"/>
                  <a:pt x="16018" y="125016"/>
                  <a:pt x="35719" y="125016"/>
                </a:cubicBezTo>
                <a:lnTo>
                  <a:pt x="214313" y="125016"/>
                </a:lnTo>
                <a:cubicBezTo>
                  <a:pt x="234014" y="125016"/>
                  <a:pt x="250031" y="108998"/>
                  <a:pt x="250031" y="89297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156270" y="58043"/>
                </a:moveTo>
                <a:cubicBezTo>
                  <a:pt x="163662" y="58043"/>
                  <a:pt x="169664" y="64045"/>
                  <a:pt x="169664" y="71438"/>
                </a:cubicBezTo>
                <a:cubicBezTo>
                  <a:pt x="169664" y="78830"/>
                  <a:pt x="163662" y="84832"/>
                  <a:pt x="156270" y="84832"/>
                </a:cubicBezTo>
                <a:cubicBezTo>
                  <a:pt x="148877" y="84832"/>
                  <a:pt x="142875" y="78830"/>
                  <a:pt x="142875" y="71438"/>
                </a:cubicBezTo>
                <a:cubicBezTo>
                  <a:pt x="142875" y="64045"/>
                  <a:pt x="148877" y="58043"/>
                  <a:pt x="156270" y="58043"/>
                </a:cubicBezTo>
                <a:close/>
                <a:moveTo>
                  <a:pt x="187523" y="71438"/>
                </a:moveTo>
                <a:cubicBezTo>
                  <a:pt x="187523" y="64045"/>
                  <a:pt x="193525" y="58043"/>
                  <a:pt x="200918" y="58043"/>
                </a:cubicBezTo>
                <a:cubicBezTo>
                  <a:pt x="208311" y="58043"/>
                  <a:pt x="214313" y="64045"/>
                  <a:pt x="214313" y="71438"/>
                </a:cubicBezTo>
                <a:cubicBezTo>
                  <a:pt x="214313" y="78830"/>
                  <a:pt x="208311" y="84832"/>
                  <a:pt x="200918" y="84832"/>
                </a:cubicBezTo>
                <a:cubicBezTo>
                  <a:pt x="193525" y="84832"/>
                  <a:pt x="187523" y="78830"/>
                  <a:pt x="187523" y="71438"/>
                </a:cubicBezTo>
                <a:close/>
                <a:moveTo>
                  <a:pt x="35719" y="160734"/>
                </a:moveTo>
                <a:cubicBezTo>
                  <a:pt x="16018" y="160734"/>
                  <a:pt x="0" y="176752"/>
                  <a:pt x="0" y="19645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96453"/>
                </a:lnTo>
                <a:cubicBezTo>
                  <a:pt x="250031" y="176752"/>
                  <a:pt x="234014" y="160734"/>
                  <a:pt x="214313" y="160734"/>
                </a:cubicBezTo>
                <a:lnTo>
                  <a:pt x="35719" y="160734"/>
                </a:lnTo>
                <a:close/>
                <a:moveTo>
                  <a:pt x="156270" y="200918"/>
                </a:moveTo>
                <a:cubicBezTo>
                  <a:pt x="163662" y="200918"/>
                  <a:pt x="169664" y="206920"/>
                  <a:pt x="169664" y="214313"/>
                </a:cubicBezTo>
                <a:cubicBezTo>
                  <a:pt x="169664" y="221705"/>
                  <a:pt x="163662" y="227707"/>
                  <a:pt x="156270" y="227707"/>
                </a:cubicBezTo>
                <a:cubicBezTo>
                  <a:pt x="148877" y="227707"/>
                  <a:pt x="142875" y="221705"/>
                  <a:pt x="142875" y="214313"/>
                </a:cubicBezTo>
                <a:cubicBezTo>
                  <a:pt x="142875" y="206920"/>
                  <a:pt x="148877" y="200918"/>
                  <a:pt x="156270" y="200918"/>
                </a:cubicBezTo>
                <a:close/>
                <a:moveTo>
                  <a:pt x="187523" y="214313"/>
                </a:moveTo>
                <a:cubicBezTo>
                  <a:pt x="187523" y="206920"/>
                  <a:pt x="193525" y="200918"/>
                  <a:pt x="200918" y="200918"/>
                </a:cubicBezTo>
                <a:cubicBezTo>
                  <a:pt x="208311" y="200918"/>
                  <a:pt x="214313" y="206920"/>
                  <a:pt x="214313" y="214313"/>
                </a:cubicBezTo>
                <a:cubicBezTo>
                  <a:pt x="214313" y="221705"/>
                  <a:pt x="208311" y="227707"/>
                  <a:pt x="200918" y="227707"/>
                </a:cubicBezTo>
                <a:cubicBezTo>
                  <a:pt x="193525" y="227707"/>
                  <a:pt x="187523" y="221705"/>
                  <a:pt x="187523" y="214313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15" name="Text 12"/>
          <p:cNvSpPr/>
          <p:nvPr/>
        </p:nvSpPr>
        <p:spPr>
          <a:xfrm>
            <a:off x="8255000" y="17145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微服务架构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55000" y="20574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可用可扩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000" y="2667000"/>
            <a:ext cx="1154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000" y="3124200"/>
            <a:ext cx="3705225" cy="914400"/>
          </a:xfrm>
          <a:custGeom>
            <a:avLst/>
            <a:gdLst/>
            <a:ahLst/>
            <a:cxnLst/>
            <a:rect l="l" t="t" r="r" b="b"/>
            <a:pathLst>
              <a:path w="3705225" h="9144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838203"/>
                </a:lnTo>
                <a:cubicBezTo>
                  <a:pt x="3705225" y="880285"/>
                  <a:pt x="3671110" y="914400"/>
                  <a:pt x="3629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334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0" name="Text 17"/>
          <p:cNvSpPr/>
          <p:nvPr/>
        </p:nvSpPr>
        <p:spPr>
          <a:xfrm>
            <a:off x="500063" y="32766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4400" y="3295650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多平台支持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3400" y="36576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GitHub/Gitee/GitLab 全覆盖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41800" y="3124200"/>
            <a:ext cx="3705225" cy="914400"/>
          </a:xfrm>
          <a:custGeom>
            <a:avLst/>
            <a:gdLst/>
            <a:ahLst/>
            <a:cxnLst/>
            <a:rect l="l" t="t" r="r" b="b"/>
            <a:pathLst>
              <a:path w="3705225" h="9144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838203"/>
                </a:lnTo>
                <a:cubicBezTo>
                  <a:pt x="3705225" y="880285"/>
                  <a:pt x="3671110" y="914400"/>
                  <a:pt x="3629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43942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25" name="Text 22"/>
          <p:cNvSpPr/>
          <p:nvPr/>
        </p:nvSpPr>
        <p:spPr>
          <a:xfrm>
            <a:off x="4360863" y="32766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75200" y="32956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治理模型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394200" y="36576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Bus Factor、SLA、成熟度模型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02600" y="3124200"/>
            <a:ext cx="3705225" cy="914400"/>
          </a:xfrm>
          <a:custGeom>
            <a:avLst/>
            <a:gdLst/>
            <a:ahLst/>
            <a:cxnLst/>
            <a:rect l="l" t="t" r="r" b="b"/>
            <a:pathLst>
              <a:path w="3705225" h="914400">
                <a:moveTo>
                  <a:pt x="76197" y="0"/>
                </a:moveTo>
                <a:lnTo>
                  <a:pt x="3629028" y="0"/>
                </a:lnTo>
                <a:cubicBezTo>
                  <a:pt x="3671110" y="0"/>
                  <a:pt x="3705225" y="34115"/>
                  <a:pt x="3705225" y="76197"/>
                </a:cubicBezTo>
                <a:lnTo>
                  <a:pt x="3705225" y="838203"/>
                </a:lnTo>
                <a:cubicBezTo>
                  <a:pt x="3705225" y="880285"/>
                  <a:pt x="3671110" y="914400"/>
                  <a:pt x="3629028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82550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8C0D0"/>
          </a:solidFill>
        </p:spPr>
      </p:sp>
      <p:sp>
        <p:nvSpPr>
          <p:cNvPr id="30" name="Text 27"/>
          <p:cNvSpPr/>
          <p:nvPr/>
        </p:nvSpPr>
        <p:spPr>
          <a:xfrm>
            <a:off x="8221663" y="327660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636000" y="329565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生态服务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255000" y="3657600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8DEE9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面向基金会/高校/企业开源办公室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876675" y="4572000"/>
            <a:ext cx="4438650" cy="1323975"/>
          </a:xfrm>
          <a:custGeom>
            <a:avLst/>
            <a:gdLst/>
            <a:ahLst/>
            <a:cxnLst/>
            <a:rect l="l" t="t" r="r" b="b"/>
            <a:pathLst>
              <a:path w="4438650" h="1323975">
                <a:moveTo>
                  <a:pt x="76195" y="0"/>
                </a:moveTo>
                <a:lnTo>
                  <a:pt x="4362455" y="0"/>
                </a:lnTo>
                <a:cubicBezTo>
                  <a:pt x="4404536" y="0"/>
                  <a:pt x="4438650" y="34114"/>
                  <a:pt x="4438650" y="76195"/>
                </a:cubicBezTo>
                <a:lnTo>
                  <a:pt x="4438650" y="1247780"/>
                </a:lnTo>
                <a:cubicBezTo>
                  <a:pt x="4438650" y="1289861"/>
                  <a:pt x="4404536" y="1323975"/>
                  <a:pt x="4362455" y="1323975"/>
                </a:cubicBezTo>
                <a:lnTo>
                  <a:pt x="76195" y="1323975"/>
                </a:lnTo>
                <a:cubicBezTo>
                  <a:pt x="34114" y="1323975"/>
                  <a:pt x="0" y="1289861"/>
                  <a:pt x="0" y="1247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88C0D0">
              <a:alpha val="20000"/>
            </a:srgbClr>
          </a:solidFill>
          <a:ln w="25400">
            <a:solidFill>
              <a:srgbClr val="88C0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33850" y="4733925"/>
            <a:ext cx="392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我们的愿景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143375" y="5114925"/>
            <a:ext cx="3905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开源项目不再依赖个人英雄，而是依靠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数据化、制度化、智能化</a:t>
            </a:r>
            <a:r>
              <a:rPr lang="en-US" sz="1500" dirty="0">
                <a:solidFill>
                  <a:srgbClr val="FFFFFF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的治理体系持续发展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09563" y="6134100"/>
            <a:ext cx="11572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8C0D0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感谢聆听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3280</Words>
  <Application>WPS 演示</Application>
  <PresentationFormat>On-screen Show (16:9)</PresentationFormat>
  <Paragraphs>576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面向开源项目治理的智能分析与决策辅助系统</dc:title>
  <dc:creator>Kimi</dc:creator>
  <dc:subject>面向开源项目治理的智能分析与决策辅助系统</dc:subject>
  <cp:lastModifiedBy>WPS_1602510005</cp:lastModifiedBy>
  <cp:revision>2</cp:revision>
  <dcterms:created xsi:type="dcterms:W3CDTF">2026-01-21T14:57:00Z</dcterms:created>
  <dcterms:modified xsi:type="dcterms:W3CDTF">2026-01-21T17:30:59Z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面向开源项目治理的智能分析与决策辅助系统","ContentProducer":"001191110108MACG2KBH8F10000","ProduceID":"19be105f-b0a2-81e8-8000-0000d438a760","ReservedCode1":"","ContentPropagator":"001191110108MACG2KBH8F20000","PropagateID":"19be105f-b0a2-81e8-8000-0000d438a760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E3DE4A7C25B644BAB2F93BAF673600C8_12</vt:lpwstr>
  </property>
</Properties>
</file>